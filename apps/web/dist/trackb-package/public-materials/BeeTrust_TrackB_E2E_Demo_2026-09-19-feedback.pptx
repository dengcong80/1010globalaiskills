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78CE74-0DD4-A5C6-1E28-7081A82F5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DA3C7BC-B800-0C0B-D3E2-00BCAE2EAB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BA3373-52CD-334A-3310-4A26F5AA3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1F26-9996-4215-9652-243FB20265C0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DCE9D4-C7A9-C8BA-FB94-5FB11B14C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2847FA-7B8C-2654-A6BA-9025F1D5F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D980F-E2D1-4D7A-8D59-1E76B4FF5A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716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D8C5A-E10C-2380-9E3F-60CEB1BC5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5940E3-233A-6953-FC95-06A47D1DB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73AA19-D3DC-30EA-78B7-19C4E5A32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1F26-9996-4215-9652-243FB20265C0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1CF3DB-A10A-D034-6829-913CFC1B5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4A3668-2CA4-3478-976A-36A9122BA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D980F-E2D1-4D7A-8D59-1E76B4FF5A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843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237A9B-46F4-013F-F7FE-CF160C55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8E689C-8DDB-DEF7-EAE2-AAB3FB4CF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008B10-2C01-4487-691E-DF47E4706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1F26-9996-4215-9652-243FB20265C0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ECD215-77F3-8720-7C62-C357426AB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68B5EC-B331-A6AC-392D-28F10B066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D980F-E2D1-4D7A-8D59-1E76B4FF5A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669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5C2C59-3F34-980A-0FD2-7FE35D86E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8491B7-4CEE-183A-0EEA-70464249D9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17D60D-29C3-12C4-774B-E2C6B2A7D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121B8C-E485-6172-C802-37C9D4F9B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1F26-9996-4215-9652-243FB20265C0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524CD5-0D1D-480F-6108-4B4239DFF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F09BF3-E244-FFE2-73A0-1D414D5F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D980F-E2D1-4D7A-8D59-1E76B4FF5A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586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9B9ED6-6B9C-F4F3-C312-89A411945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200F40-73C3-7152-27B6-F07E0D74A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2B9FB5-9804-8A82-288B-01B23BC11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65D9D9-AFCA-E9F0-C3EF-5F18D3532A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1195216-ADA5-24B2-7F4C-26A4B6DF3C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FDCA76F-4A3B-B30C-1B1C-21088C9A9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1F26-9996-4215-9652-243FB20265C0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DA311AC-7A67-AD0B-A732-B39C389BF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412936-023E-7032-9855-D057D7E0C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D980F-E2D1-4D7A-8D59-1E76B4FF5A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920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E0271-E166-4318-1CF7-9F5C861D9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04B7A3-FBA9-3D99-C938-B54B9BECD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1F26-9996-4215-9652-243FB20265C0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FB2AB02-A8BC-8C80-D772-B5FBEA8E0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DB536A1-9AE7-2436-7D63-6D2FE3F07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D980F-E2D1-4D7A-8D59-1E76B4FF5A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315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7038BD-AEBD-EE7E-670B-5E07DFB92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1F26-9996-4215-9652-243FB20265C0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50CAFE7-631A-0554-1B43-3D028BBD7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BFA7DB-43AB-CB20-073E-C38DC517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D980F-E2D1-4D7A-8D59-1E76B4FF5A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148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F2861C-FC39-6D5A-F5FD-4C685DE4B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566E44-CBE5-080A-C4BF-C61048319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2CC333-5F59-05DD-D165-0FDBB4FBA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2EF6CC-D13B-E22C-92AA-12476F0D6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1F26-9996-4215-9652-243FB20265C0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456CE6-CEEE-BEE3-1AEC-C04EA08DE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934AE2-34C2-7B30-E787-04839032E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D980F-E2D1-4D7A-8D59-1E76B4FF5A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617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38C2ED-78F6-0D5A-3595-680DE90E2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90B37BF-16D3-CBA4-6EDD-4180C08F9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4AB8AB-6E3F-3173-534E-07D5D6A30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AECD9E-C7CB-3347-8FE0-B19632726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1F26-9996-4215-9652-243FB20265C0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D924F0-A761-AAF7-A631-B3B724247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6DDA4B-000D-6DB7-849B-E6E8739CA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D980F-E2D1-4D7A-8D59-1E76B4FF5A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988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B2770B-8D43-DC21-2B86-F66FFF03F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066232-B871-EF66-F8FD-B85AC0865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114D04-AE03-9DC1-A426-214757354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1F26-9996-4215-9652-243FB20265C0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CE631C-41C4-2A8D-F464-0CC08C35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6A8DA4-DA9E-BBDC-BA0F-32486C135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D980F-E2D1-4D7A-8D59-1E76B4FF5A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430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546ACC5-58FC-734E-2277-2823CC3C3E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16EDC0-9B18-9FA7-0A2C-516A43547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000D39-58EE-7CD1-50FB-7D6C81AD1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1F26-9996-4215-9652-243FB20265C0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762B4D-9966-C16A-E9B0-8996904F9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7EDE48-153B-A375-D635-FBEC65D54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D980F-E2D1-4D7A-8D59-1E76B4FF5A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954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7319720-2F19-3BEF-A1C5-11D8936AB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E61590-B404-9EC8-DB52-04B5B264D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5ED538-15F1-1897-6A9C-8AAA3D362C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21F26-9996-4215-9652-243FB20265C0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EBEA33-85AE-725A-37DC-F8951E7863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73CB07-66D5-C369-D2D5-71F01C9D6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D980F-E2D1-4D7A-8D59-1E76B4FF5A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128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9901FD11-06A6-C5BD-0370-F99B79421897}"/>
              </a:ext>
            </a:extLst>
          </p:cNvPr>
          <p:cNvSpPr/>
          <p:nvPr/>
        </p:nvSpPr>
        <p:spPr>
          <a:xfrm>
            <a:off x="4191000" y="2997200"/>
            <a:ext cx="3302000" cy="3302000"/>
          </a:xfrm>
          <a:prstGeom prst="ellipse">
            <a:avLst/>
          </a:prstGeom>
          <a:solidFill>
            <a:srgbClr val="00DC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2A44496-B0A7-1FD2-751C-4E0450FA7B79}"/>
              </a:ext>
            </a:extLst>
          </p:cNvPr>
          <p:cNvSpPr/>
          <p:nvPr/>
        </p:nvSpPr>
        <p:spPr>
          <a:xfrm>
            <a:off x="-1371600" y="4343400"/>
            <a:ext cx="3810000" cy="3810000"/>
          </a:xfrm>
          <a:prstGeom prst="ellipse">
            <a:avLst/>
          </a:prstGeom>
          <a:solidFill>
            <a:srgbClr val="AA36FF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1D4756E1-DCFA-27A9-D806-A6C45AC14F04}"/>
              </a:ext>
            </a:extLst>
          </p:cNvPr>
          <p:cNvSpPr/>
          <p:nvPr/>
        </p:nvSpPr>
        <p:spPr>
          <a:xfrm>
            <a:off x="8585200" y="-1168400"/>
            <a:ext cx="4318000" cy="4318000"/>
          </a:xfrm>
          <a:prstGeom prst="ellipse">
            <a:avLst/>
          </a:prstGeom>
          <a:solidFill>
            <a:srgbClr val="417EFF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7123376-A932-4ADA-F2F9-A347D457F270}"/>
              </a:ext>
            </a:extLst>
          </p:cNvPr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5310EFD-DF1C-0D30-5C47-AF295467039D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FF1960C-64CD-99B6-49D4-32A5880FC512}"/>
              </a:ext>
            </a:extLst>
          </p:cNvPr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B7AD333-6727-4699-5C07-377D83966D92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B57813F-B750-BD8A-D1C0-A4CAFFE61412}"/>
              </a:ext>
            </a:extLst>
          </p:cNvPr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2105842-78DC-D1DF-96D0-14980A3537C8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8609349-A0A3-8134-1DBD-F557D9EC5550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78DC4A5-2D88-FB45-95E6-FF1CECB2AFB9}"/>
              </a:ext>
            </a:extLst>
          </p:cNvPr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8CA7ECE-5C60-02A9-EFA8-37C40D39E672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2A853D5-98E9-0FAE-B39D-A079D66328B0}"/>
              </a:ext>
            </a:extLst>
          </p:cNvPr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AC6E153-2F09-7785-B704-2275DCFCE25B}"/>
              </a:ext>
            </a:extLst>
          </p:cNvPr>
          <p:cNvCxnSpPr/>
          <p:nvPr/>
        </p:nvCxnSpPr>
        <p:spPr>
          <a:xfrm>
            <a:off x="0" y="863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44C5569-478A-D0E4-B846-F738552E5149}"/>
              </a:ext>
            </a:extLst>
          </p:cNvPr>
          <p:cNvCxnSpPr/>
          <p:nvPr/>
        </p:nvCxnSpPr>
        <p:spPr>
          <a:xfrm>
            <a:off x="0" y="1676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5FA54D4-5D8D-4477-2433-DA1B5C5CBB6F}"/>
              </a:ext>
            </a:extLst>
          </p:cNvPr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C9F65BD-7E3F-A01D-56FF-A6A764C31A03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8C48CCF-FBDE-D290-6AB4-B70D193809BD}"/>
              </a:ext>
            </a:extLst>
          </p:cNvPr>
          <p:cNvCxnSpPr/>
          <p:nvPr/>
        </p:nvCxnSpPr>
        <p:spPr>
          <a:xfrm>
            <a:off x="0" y="41148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136F106F-C080-5CF4-20F2-AFA295FCBDA8}"/>
              </a:ext>
            </a:extLst>
          </p:cNvPr>
          <p:cNvCxnSpPr/>
          <p:nvPr/>
        </p:nvCxnSpPr>
        <p:spPr>
          <a:xfrm>
            <a:off x="0" y="4927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2C360EF-1A1A-03EA-9D49-7C14D5F88A62}"/>
              </a:ext>
            </a:extLst>
          </p:cNvPr>
          <p:cNvCxnSpPr/>
          <p:nvPr/>
        </p:nvCxnSpPr>
        <p:spPr>
          <a:xfrm>
            <a:off x="0" y="5740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0A080D4-529A-3A0C-E3A9-4ED81A7D0332}"/>
              </a:ext>
            </a:extLst>
          </p:cNvPr>
          <p:cNvCxnSpPr/>
          <p:nvPr/>
        </p:nvCxnSpPr>
        <p:spPr>
          <a:xfrm>
            <a:off x="0" y="6553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FC21D44-6339-D7F0-E047-F2A0C5E6E7ED}"/>
              </a:ext>
            </a:extLst>
          </p:cNvPr>
          <p:cNvCxnSpPr/>
          <p:nvPr/>
        </p:nvCxnSpPr>
        <p:spPr>
          <a:xfrm>
            <a:off x="8890000" y="0"/>
            <a:ext cx="3302000" cy="2032000"/>
          </a:xfrm>
          <a:prstGeom prst="line">
            <a:avLst/>
          </a:prstGeom>
          <a:ln w="12700" cap="flat" cmpd="sng" algn="ctr">
            <a:solidFill>
              <a:srgbClr val="BFFF00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C1EFB33-359A-8A0B-DB0D-78FA94DCA64D}"/>
              </a:ext>
            </a:extLst>
          </p:cNvPr>
          <p:cNvCxnSpPr/>
          <p:nvPr/>
        </p:nvCxnSpPr>
        <p:spPr>
          <a:xfrm>
            <a:off x="0" y="5791200"/>
            <a:ext cx="3175000" cy="1066800"/>
          </a:xfrm>
          <a:prstGeom prst="line">
            <a:avLst/>
          </a:prstGeom>
          <a:ln w="12700" cap="flat" cmpd="sng" algn="ctr">
            <a:solidFill>
              <a:srgbClr val="417EFF">
                <a:alpha val="2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CF5FF7A6-98C4-9869-2018-958604A67B5B}"/>
              </a:ext>
            </a:extLst>
          </p:cNvPr>
          <p:cNvSpPr/>
          <p:nvPr/>
        </p:nvSpPr>
        <p:spPr>
          <a:xfrm>
            <a:off x="609600" y="558800"/>
            <a:ext cx="101600" cy="1600200"/>
          </a:xfrm>
          <a:prstGeom prst="rect">
            <a:avLst/>
          </a:prstGeom>
          <a:solidFill>
            <a:srgbClr val="BFFF00"/>
          </a:solidFill>
          <a:ln w="12700">
            <a:solidFill>
              <a:srgbClr val="B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D76DFEE-BD2E-C4BE-42F4-66E500BDDA1B}"/>
              </a:ext>
            </a:extLst>
          </p:cNvPr>
          <p:cNvSpPr txBox="1"/>
          <p:nvPr/>
        </p:nvSpPr>
        <p:spPr>
          <a:xfrm>
            <a:off x="1041400" y="6350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BFFF00"/>
                </a:solidFill>
                <a:latin typeface="Microsoft YaHei" panose="020B0503020204020204" pitchFamily="34" charset="-122"/>
              </a:rPr>
              <a:t>BEETRUST / TRACK B / SP-A</a:t>
            </a:r>
            <a:endParaRPr lang="zh-CN" altLang="en-US" sz="1000" b="1">
              <a:solidFill>
                <a:srgbClr val="BFFF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FA7B0BC-AB11-01D7-CACF-CCC7FD3DB508}"/>
              </a:ext>
            </a:extLst>
          </p:cNvPr>
          <p:cNvSpPr txBox="1"/>
          <p:nvPr/>
        </p:nvSpPr>
        <p:spPr>
          <a:xfrm>
            <a:off x="1041400" y="144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4200">
                <a:solidFill>
                  <a:srgbClr val="FFFFFF"/>
                </a:solidFill>
                <a:latin typeface="Microsoft YaHei" panose="020B0503020204020204" pitchFamily="34" charset="-122"/>
              </a:rPr>
              <a:t>Can this shipment leave?</a:t>
            </a:r>
            <a:endParaRPr lang="zh-CN" altLang="en-US" sz="42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EEF086C-7297-A5BD-03EE-0349F8429FE0}"/>
              </a:ext>
            </a:extLst>
          </p:cNvPr>
          <p:cNvSpPr txBox="1"/>
          <p:nvPr/>
        </p:nvSpPr>
        <p:spPr>
          <a:xfrm>
            <a:off x="1041400" y="22098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4200">
                <a:solidFill>
                  <a:srgbClr val="FFFFFF"/>
                </a:solidFill>
                <a:latin typeface="Microsoft YaHei" panose="020B0503020204020204" pitchFamily="34" charset="-122"/>
              </a:rPr>
              <a:t>Evidence decides release.</a:t>
            </a:r>
            <a:endParaRPr lang="zh-CN" altLang="en-US" sz="42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8211B03-909C-443E-450C-E6AAD423C02D}"/>
              </a:ext>
            </a:extLst>
          </p:cNvPr>
          <p:cNvSpPr txBox="1"/>
          <p:nvPr/>
        </p:nvSpPr>
        <p:spPr>
          <a:xfrm>
            <a:off x="1066800" y="36068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1600">
                <a:solidFill>
                  <a:srgbClr val="748FBE"/>
                </a:solidFill>
                <a:latin typeface="Microsoft YaHei" panose="020B0503020204020204" pitchFamily="34" charset="-122"/>
              </a:rPr>
              <a:t>A 1,000-jar Mānuka honey shipment from New Zealand to Australia.</a:t>
            </a:r>
            <a:endParaRPr lang="zh-CN" altLang="en-US" sz="1600">
              <a:solidFill>
                <a:srgbClr val="748FB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483C17D-7DDE-B9EF-5BE9-305AD6A55D27}"/>
              </a:ext>
            </a:extLst>
          </p:cNvPr>
          <p:cNvSpPr/>
          <p:nvPr/>
        </p:nvSpPr>
        <p:spPr>
          <a:xfrm>
            <a:off x="8737600" y="1346200"/>
            <a:ext cx="2844800" cy="2768600"/>
          </a:xfrm>
          <a:prstGeom prst="rect">
            <a:avLst/>
          </a:prstGeom>
          <a:solidFill>
            <a:srgbClr val="417EFF"/>
          </a:solidFill>
          <a:ln w="12700">
            <a:solidFill>
              <a:srgbClr val="417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5A28BA7-4F8F-4606-A1C6-2AF41A444B7A}"/>
              </a:ext>
            </a:extLst>
          </p:cNvPr>
          <p:cNvSpPr txBox="1"/>
          <p:nvPr/>
        </p:nvSpPr>
        <p:spPr>
          <a:xfrm>
            <a:off x="9093200" y="17526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100" b="1">
                <a:solidFill>
                  <a:srgbClr val="FFFFFF"/>
                </a:solidFill>
                <a:latin typeface="Microsoft YaHei" panose="020B0503020204020204" pitchFamily="34" charset="-122"/>
              </a:rPr>
              <a:t>RELEASE</a:t>
            </a:r>
            <a:endParaRPr lang="zh-CN" altLang="en-US" sz="21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8E04DAD-8A12-80C0-B827-B8DDFF48E0B1}"/>
              </a:ext>
            </a:extLst>
          </p:cNvPr>
          <p:cNvSpPr txBox="1"/>
          <p:nvPr/>
        </p:nvSpPr>
        <p:spPr>
          <a:xfrm>
            <a:off x="9017000" y="22606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6600">
                <a:solidFill>
                  <a:srgbClr val="FFFFFF"/>
                </a:solidFill>
                <a:latin typeface="Consolas" panose="020B0609020204030204" pitchFamily="49" charset="0"/>
              </a:rPr>
              <a:t>100</a:t>
            </a:r>
            <a:endParaRPr lang="zh-CN" altLang="en-US" sz="66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27A2CFD-736B-C14A-585C-003336429722}"/>
              </a:ext>
            </a:extLst>
          </p:cNvPr>
          <p:cNvSpPr txBox="1"/>
          <p:nvPr/>
        </p:nvSpPr>
        <p:spPr>
          <a:xfrm>
            <a:off x="10388600" y="2997200"/>
            <a:ext cx="81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000" b="1">
                <a:solidFill>
                  <a:srgbClr val="BFFF00"/>
                </a:solidFill>
                <a:latin typeface="Consolas" panose="020B0609020204030204" pitchFamily="49" charset="0"/>
              </a:rPr>
              <a:t>/100</a:t>
            </a:r>
            <a:endParaRPr lang="zh-CN" altLang="en-US" sz="2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BB82103-52F6-844C-72FF-AB32FEF57A72}"/>
              </a:ext>
            </a:extLst>
          </p:cNvPr>
          <p:cNvSpPr txBox="1"/>
          <p:nvPr/>
        </p:nvSpPr>
        <p:spPr>
          <a:xfrm>
            <a:off x="9093200" y="35814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>
                <a:solidFill>
                  <a:srgbClr val="FFFFFF"/>
                </a:solidFill>
                <a:latin typeface="Microsoft YaHei" panose="020B0503020204020204" pitchFamily="34" charset="-122"/>
              </a:rPr>
              <a:t>local runtime evidence</a:t>
            </a:r>
            <a:endParaRPr lang="zh-CN" altLang="en-US" sz="10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AC7340A-3B49-40BF-36B1-1CA08B32797E}"/>
              </a:ext>
            </a:extLst>
          </p:cNvPr>
          <p:cNvSpPr txBox="1"/>
          <p:nvPr/>
        </p:nvSpPr>
        <p:spPr>
          <a:xfrm>
            <a:off x="1066800" y="5765800"/>
            <a:ext cx="558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900">
                <a:solidFill>
                  <a:srgbClr val="748FBE"/>
                </a:solidFill>
                <a:latin typeface="Microsoft YaHei" panose="020B0503020204020204" pitchFamily="34" charset="-122"/>
              </a:rPr>
              <a:t>Synthetic case / no external submission performed</a:t>
            </a:r>
            <a:endParaRPr lang="zh-CN" altLang="en-US" sz="900">
              <a:solidFill>
                <a:srgbClr val="748FB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26D8926-F37B-3C26-B25C-E71A14BE1923}"/>
              </a:ext>
            </a:extLst>
          </p:cNvPr>
          <p:cNvSpPr txBox="1"/>
          <p:nvPr/>
        </p:nvSpPr>
        <p:spPr>
          <a:xfrm>
            <a:off x="11049000" y="5765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BFFF00"/>
                </a:solidFill>
                <a:latin typeface="Consolas" panose="020B0609020204030204" pitchFamily="49" charset="0"/>
              </a:rPr>
              <a:t>01</a:t>
            </a:r>
            <a:endParaRPr lang="zh-CN" altLang="en-US" sz="1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78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7887060-A4E5-E8B5-6EF8-4B28E9A51C23}"/>
              </a:ext>
            </a:extLst>
          </p:cNvPr>
          <p:cNvSpPr/>
          <p:nvPr/>
        </p:nvSpPr>
        <p:spPr>
          <a:xfrm>
            <a:off x="4191000" y="2997200"/>
            <a:ext cx="3302000" cy="3302000"/>
          </a:xfrm>
          <a:prstGeom prst="ellipse">
            <a:avLst/>
          </a:prstGeom>
          <a:solidFill>
            <a:srgbClr val="00DC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E8D5F97-C8D2-14B8-154F-3B920AEB6BDC}"/>
              </a:ext>
            </a:extLst>
          </p:cNvPr>
          <p:cNvSpPr/>
          <p:nvPr/>
        </p:nvSpPr>
        <p:spPr>
          <a:xfrm>
            <a:off x="-1371600" y="4343400"/>
            <a:ext cx="3810000" cy="3810000"/>
          </a:xfrm>
          <a:prstGeom prst="ellipse">
            <a:avLst/>
          </a:prstGeom>
          <a:solidFill>
            <a:srgbClr val="AA36FF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8E68641-4337-D122-C94E-D4EA59A75EC4}"/>
              </a:ext>
            </a:extLst>
          </p:cNvPr>
          <p:cNvSpPr/>
          <p:nvPr/>
        </p:nvSpPr>
        <p:spPr>
          <a:xfrm>
            <a:off x="8585200" y="-1168400"/>
            <a:ext cx="4318000" cy="4318000"/>
          </a:xfrm>
          <a:prstGeom prst="ellipse">
            <a:avLst/>
          </a:prstGeom>
          <a:solidFill>
            <a:srgbClr val="417EFF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244E936-5443-408A-A54E-90F7D1A09C16}"/>
              </a:ext>
            </a:extLst>
          </p:cNvPr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57759BC-FFD7-E3AB-0C81-7274F310A580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A9CB918-8859-0FE5-4F33-D913E1DEED30}"/>
              </a:ext>
            </a:extLst>
          </p:cNvPr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508654C-626E-FBB3-78F7-31432609B677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F500A8D-44FF-6FF6-D611-C2479DC19618}"/>
              </a:ext>
            </a:extLst>
          </p:cNvPr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B641CE7-9C90-D330-B05D-02380FFADEC9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2BD8D17-0F64-130A-ADF6-790524F922FE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D32797C-5D8D-6BB8-CC6F-5231445C7E8C}"/>
              </a:ext>
            </a:extLst>
          </p:cNvPr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81F7773-7C0F-50CE-7D1A-ED1C42C4C04A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3F74A0F-CD45-4F66-73CF-EB3FF7B8C34B}"/>
              </a:ext>
            </a:extLst>
          </p:cNvPr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73339CA-FEFA-0D28-3548-D20B666A1BED}"/>
              </a:ext>
            </a:extLst>
          </p:cNvPr>
          <p:cNvCxnSpPr/>
          <p:nvPr/>
        </p:nvCxnSpPr>
        <p:spPr>
          <a:xfrm>
            <a:off x="0" y="863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1C97877-B0A4-BCA5-AFC4-A5A7B9C61164}"/>
              </a:ext>
            </a:extLst>
          </p:cNvPr>
          <p:cNvCxnSpPr/>
          <p:nvPr/>
        </p:nvCxnSpPr>
        <p:spPr>
          <a:xfrm>
            <a:off x="0" y="1676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69810B0-FF5C-F23A-9F0A-3F82C0B84DC6}"/>
              </a:ext>
            </a:extLst>
          </p:cNvPr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5D1AE43-352C-B25D-C17A-74801020D052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891D048-50A6-D99A-42EF-0ABB82DD40CF}"/>
              </a:ext>
            </a:extLst>
          </p:cNvPr>
          <p:cNvCxnSpPr/>
          <p:nvPr/>
        </p:nvCxnSpPr>
        <p:spPr>
          <a:xfrm>
            <a:off x="0" y="41148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8DE54C3-741A-B9A5-2C0E-8A24C781397C}"/>
              </a:ext>
            </a:extLst>
          </p:cNvPr>
          <p:cNvCxnSpPr/>
          <p:nvPr/>
        </p:nvCxnSpPr>
        <p:spPr>
          <a:xfrm>
            <a:off x="0" y="4927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713456F-506B-0C66-5E17-78A5451ADEF7}"/>
              </a:ext>
            </a:extLst>
          </p:cNvPr>
          <p:cNvCxnSpPr/>
          <p:nvPr/>
        </p:nvCxnSpPr>
        <p:spPr>
          <a:xfrm>
            <a:off x="0" y="5740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25A7FD9-9496-904F-5E56-86AD616C9804}"/>
              </a:ext>
            </a:extLst>
          </p:cNvPr>
          <p:cNvCxnSpPr/>
          <p:nvPr/>
        </p:nvCxnSpPr>
        <p:spPr>
          <a:xfrm>
            <a:off x="0" y="6553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2E1F03A-FAD6-18CC-C3A1-0D8C6CEDC7FB}"/>
              </a:ext>
            </a:extLst>
          </p:cNvPr>
          <p:cNvCxnSpPr/>
          <p:nvPr/>
        </p:nvCxnSpPr>
        <p:spPr>
          <a:xfrm>
            <a:off x="8890000" y="0"/>
            <a:ext cx="3302000" cy="2032000"/>
          </a:xfrm>
          <a:prstGeom prst="line">
            <a:avLst/>
          </a:prstGeom>
          <a:ln w="12700" cap="flat" cmpd="sng" algn="ctr">
            <a:solidFill>
              <a:srgbClr val="BFFF00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CC71AAD-BD51-9773-1051-5994B47674FE}"/>
              </a:ext>
            </a:extLst>
          </p:cNvPr>
          <p:cNvCxnSpPr/>
          <p:nvPr/>
        </p:nvCxnSpPr>
        <p:spPr>
          <a:xfrm>
            <a:off x="0" y="5791200"/>
            <a:ext cx="3175000" cy="1066800"/>
          </a:xfrm>
          <a:prstGeom prst="line">
            <a:avLst/>
          </a:prstGeom>
          <a:ln w="12700" cap="flat" cmpd="sng" algn="ctr">
            <a:solidFill>
              <a:srgbClr val="417EFF">
                <a:alpha val="2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735778DE-9733-2DCB-6FA0-735FE7BA87C8}"/>
              </a:ext>
            </a:extLst>
          </p:cNvPr>
          <p:cNvSpPr txBox="1"/>
          <p:nvPr/>
        </p:nvSpPr>
        <p:spPr>
          <a:xfrm>
            <a:off x="609600" y="406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417EFF"/>
                </a:solidFill>
                <a:latin typeface="Microsoft YaHei" panose="020B0503020204020204" pitchFamily="34" charset="-122"/>
              </a:rPr>
              <a:t>01 / CASE</a:t>
            </a:r>
            <a:endParaRPr lang="zh-CN" altLang="en-US" sz="900" b="1">
              <a:solidFill>
                <a:srgbClr val="417E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A79D7FE-BE92-486D-DF3B-065C11B757FD}"/>
              </a:ext>
            </a:extLst>
          </p:cNvPr>
          <p:cNvSpPr txBox="1"/>
          <p:nvPr/>
        </p:nvSpPr>
        <p:spPr>
          <a:xfrm>
            <a:off x="609600" y="1219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700">
                <a:solidFill>
                  <a:srgbClr val="F4F8FF"/>
                </a:solidFill>
                <a:latin typeface="Microsoft YaHei" panose="020B0503020204020204" pitchFamily="34" charset="-122"/>
              </a:rPr>
              <a:t>One concrete question.</a:t>
            </a:r>
            <a:endParaRPr lang="zh-CN" altLang="en-US" sz="3700">
              <a:solidFill>
                <a:srgbClr val="F4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5905528-E2F8-D9BC-2437-24BD696186CF}"/>
              </a:ext>
            </a:extLst>
          </p:cNvPr>
          <p:cNvSpPr txBox="1"/>
          <p:nvPr/>
        </p:nvSpPr>
        <p:spPr>
          <a:xfrm>
            <a:off x="609600" y="19558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4200">
                <a:solidFill>
                  <a:srgbClr val="F4F8FF"/>
                </a:solidFill>
                <a:latin typeface="Microsoft YaHei" panose="020B0503020204020204" pitchFamily="34" charset="-122"/>
              </a:rPr>
              <a:t>Five checks.</a:t>
            </a:r>
            <a:endParaRPr lang="zh-CN" altLang="en-US" sz="4200">
              <a:solidFill>
                <a:srgbClr val="F4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25F5201-FC0A-1DB0-AAE4-25B2C5F0BEFA}"/>
              </a:ext>
            </a:extLst>
          </p:cNvPr>
          <p:cNvSpPr txBox="1"/>
          <p:nvPr/>
        </p:nvSpPr>
        <p:spPr>
          <a:xfrm>
            <a:off x="609600" y="26924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700">
                <a:solidFill>
                  <a:srgbClr val="417EFF"/>
                </a:solidFill>
                <a:latin typeface="Microsoft YaHei" panose="020B0503020204020204" pitchFamily="34" charset="-122"/>
              </a:rPr>
              <a:t>One auditable release.</a:t>
            </a:r>
            <a:endParaRPr lang="zh-CN" altLang="en-US" sz="3700">
              <a:solidFill>
                <a:srgbClr val="417E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8B9662B1-3A74-309B-CE7B-87CC936FE32C}"/>
              </a:ext>
            </a:extLst>
          </p:cNvPr>
          <p:cNvCxnSpPr/>
          <p:nvPr/>
        </p:nvCxnSpPr>
        <p:spPr>
          <a:xfrm>
            <a:off x="609600" y="3886200"/>
            <a:ext cx="5740400" cy="0"/>
          </a:xfrm>
          <a:prstGeom prst="line">
            <a:avLst/>
          </a:prstGeom>
          <a:ln w="17780">
            <a:solidFill>
              <a:srgbClr val="F4F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C358920E-1AB6-60CD-5170-942008E9E9A6}"/>
              </a:ext>
            </a:extLst>
          </p:cNvPr>
          <p:cNvSpPr txBox="1"/>
          <p:nvPr/>
        </p:nvSpPr>
        <p:spPr>
          <a:xfrm>
            <a:off x="609600" y="41656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A6B9D8"/>
                </a:solidFill>
                <a:latin typeface="Microsoft YaHei" panose="020B0503020204020204" pitchFamily="34" charset="-122"/>
              </a:rPr>
              <a:t>SYNTHETIC CASE</a:t>
            </a:r>
            <a:endParaRPr lang="zh-CN" altLang="en-US" sz="900" b="1">
              <a:solidFill>
                <a:srgbClr val="A6B9D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F148ECA-1A60-178E-25B1-2CAF8B7AD06A}"/>
              </a:ext>
            </a:extLst>
          </p:cNvPr>
          <p:cNvSpPr txBox="1"/>
          <p:nvPr/>
        </p:nvSpPr>
        <p:spPr>
          <a:xfrm>
            <a:off x="609600" y="44704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1700" b="1">
                <a:solidFill>
                  <a:srgbClr val="F4F8FF"/>
                </a:solidFill>
                <a:latin typeface="Microsoft YaHei" panose="020B0503020204020204" pitchFamily="34" charset="-122"/>
              </a:rPr>
              <a:t>1,000 jars of New Zealand Mānuka honey</a:t>
            </a:r>
            <a:endParaRPr lang="zh-CN" altLang="en-US" sz="1700" b="1">
              <a:solidFill>
                <a:srgbClr val="F4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244E4AB-D763-64BF-5BC3-2EE5B673459F}"/>
              </a:ext>
            </a:extLst>
          </p:cNvPr>
          <p:cNvSpPr txBox="1"/>
          <p:nvPr/>
        </p:nvSpPr>
        <p:spPr>
          <a:xfrm>
            <a:off x="609600" y="4876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>
                <a:solidFill>
                  <a:srgbClr val="A6B9D8"/>
                </a:solidFill>
                <a:latin typeface="Microsoft YaHei" panose="020B0503020204020204" pitchFamily="34" charset="-122"/>
              </a:rPr>
              <a:t>Destination: Australia</a:t>
            </a:r>
            <a:endParaRPr lang="zh-CN" altLang="en-US" sz="1300">
              <a:solidFill>
                <a:srgbClr val="A6B9D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7D88CDD-A369-083F-3075-2542D40D058B}"/>
              </a:ext>
            </a:extLst>
          </p:cNvPr>
          <p:cNvSpPr/>
          <p:nvPr/>
        </p:nvSpPr>
        <p:spPr>
          <a:xfrm>
            <a:off x="7493000" y="812800"/>
            <a:ext cx="4089400" cy="4902200"/>
          </a:xfrm>
          <a:prstGeom prst="rect">
            <a:avLst/>
          </a:prstGeom>
          <a:solidFill>
            <a:srgbClr val="050B1E"/>
          </a:solidFill>
          <a:ln w="12700">
            <a:solidFill>
              <a:srgbClr val="050B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4817EDE-4BA1-5C98-ABBA-E8AAE73B242B}"/>
              </a:ext>
            </a:extLst>
          </p:cNvPr>
          <p:cNvSpPr txBox="1"/>
          <p:nvPr/>
        </p:nvSpPr>
        <p:spPr>
          <a:xfrm>
            <a:off x="7874000" y="1168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BFFF00"/>
                </a:solidFill>
                <a:latin typeface="Microsoft YaHei" panose="020B0503020204020204" pitchFamily="34" charset="-122"/>
              </a:rPr>
              <a:t>RELEASE GATES</a:t>
            </a:r>
            <a:endParaRPr lang="zh-CN" altLang="en-US" sz="1000" b="1">
              <a:solidFill>
                <a:srgbClr val="BFFF0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D823105-9B0E-134F-1829-282E028741BB}"/>
              </a:ext>
            </a:extLst>
          </p:cNvPr>
          <p:cNvCxnSpPr/>
          <p:nvPr/>
        </p:nvCxnSpPr>
        <p:spPr>
          <a:xfrm>
            <a:off x="7874000" y="1727200"/>
            <a:ext cx="33020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5CE19BF1-0F1B-A129-46E1-C7DDEC17DC12}"/>
              </a:ext>
            </a:extLst>
          </p:cNvPr>
          <p:cNvSpPr txBox="1"/>
          <p:nvPr/>
        </p:nvSpPr>
        <p:spPr>
          <a:xfrm>
            <a:off x="7874000" y="18796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Scientific fingerprint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5B00973-6C36-55CD-9767-9B0F4AE8B477}"/>
              </a:ext>
            </a:extLst>
          </p:cNvPr>
          <p:cNvSpPr txBox="1"/>
          <p:nvPr/>
        </p:nvSpPr>
        <p:spPr>
          <a:xfrm>
            <a:off x="10515600" y="18796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BFFF00"/>
                </a:solidFill>
                <a:latin typeface="Consolas" panose="020B0609020204030204" pitchFamily="49" charset="0"/>
              </a:rPr>
              <a:t>PASS</a:t>
            </a:r>
            <a:endParaRPr lang="zh-CN" altLang="en-US" sz="1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55AFED8-318B-2606-3DB5-6F9FF5E97FA6}"/>
              </a:ext>
            </a:extLst>
          </p:cNvPr>
          <p:cNvCxnSpPr/>
          <p:nvPr/>
        </p:nvCxnSpPr>
        <p:spPr>
          <a:xfrm>
            <a:off x="7874000" y="2349500"/>
            <a:ext cx="33020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90C811F8-7BD8-DFF6-8468-EAE30FB557F9}"/>
              </a:ext>
            </a:extLst>
          </p:cNvPr>
          <p:cNvSpPr txBox="1"/>
          <p:nvPr/>
        </p:nvSpPr>
        <p:spPr>
          <a:xfrm>
            <a:off x="7874000" y="25019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Chain of custody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7955CC8-D069-5DBE-E07E-22112F98C0D2}"/>
              </a:ext>
            </a:extLst>
          </p:cNvPr>
          <p:cNvSpPr txBox="1"/>
          <p:nvPr/>
        </p:nvSpPr>
        <p:spPr>
          <a:xfrm>
            <a:off x="10515600" y="25019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BFFF00"/>
                </a:solidFill>
                <a:latin typeface="Consolas" panose="020B0609020204030204" pitchFamily="49" charset="0"/>
              </a:rPr>
              <a:t>PASS</a:t>
            </a:r>
            <a:endParaRPr lang="zh-CN" altLang="en-US" sz="1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D63C7101-D9CE-9248-BBE4-CE86C3350E73}"/>
              </a:ext>
            </a:extLst>
          </p:cNvPr>
          <p:cNvCxnSpPr/>
          <p:nvPr/>
        </p:nvCxnSpPr>
        <p:spPr>
          <a:xfrm>
            <a:off x="7874000" y="2971800"/>
            <a:ext cx="33020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F99F7A1B-3135-6AC1-F27B-F138A38DD3E9}"/>
              </a:ext>
            </a:extLst>
          </p:cNvPr>
          <p:cNvSpPr txBox="1"/>
          <p:nvPr/>
        </p:nvSpPr>
        <p:spPr>
          <a:xfrm>
            <a:off x="7874000" y="31242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MPI market access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81424B5-5669-8465-5F48-BCE36C9313B9}"/>
              </a:ext>
            </a:extLst>
          </p:cNvPr>
          <p:cNvSpPr txBox="1"/>
          <p:nvPr/>
        </p:nvSpPr>
        <p:spPr>
          <a:xfrm>
            <a:off x="10515600" y="31242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BFFF00"/>
                </a:solidFill>
                <a:latin typeface="Consolas" panose="020B0609020204030204" pitchFamily="49" charset="0"/>
              </a:rPr>
              <a:t>PASS</a:t>
            </a:r>
            <a:endParaRPr lang="zh-CN" altLang="en-US" sz="1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3DEB098-222C-199F-0B33-F6784828AEEE}"/>
              </a:ext>
            </a:extLst>
          </p:cNvPr>
          <p:cNvCxnSpPr/>
          <p:nvPr/>
        </p:nvCxnSpPr>
        <p:spPr>
          <a:xfrm>
            <a:off x="7874000" y="3594100"/>
            <a:ext cx="33020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E2284650-0F91-2EE3-598A-53BA72C550AC}"/>
              </a:ext>
            </a:extLst>
          </p:cNvPr>
          <p:cNvSpPr txBox="1"/>
          <p:nvPr/>
        </p:nvSpPr>
        <p:spPr>
          <a:xfrm>
            <a:off x="7874000" y="37465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Customs clearance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BD03930-04CF-9733-CDF2-55C6191A9109}"/>
              </a:ext>
            </a:extLst>
          </p:cNvPr>
          <p:cNvSpPr txBox="1"/>
          <p:nvPr/>
        </p:nvSpPr>
        <p:spPr>
          <a:xfrm>
            <a:off x="10515600" y="37465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BFFF00"/>
                </a:solidFill>
                <a:latin typeface="Consolas" panose="020B0609020204030204" pitchFamily="49" charset="0"/>
              </a:rPr>
              <a:t>PASS</a:t>
            </a:r>
            <a:endParaRPr lang="zh-CN" altLang="en-US" sz="1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1F23606F-09A2-6685-8AC1-359FEA5A26C6}"/>
              </a:ext>
            </a:extLst>
          </p:cNvPr>
          <p:cNvCxnSpPr/>
          <p:nvPr/>
        </p:nvCxnSpPr>
        <p:spPr>
          <a:xfrm>
            <a:off x="7874000" y="4216400"/>
            <a:ext cx="33020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FF30805F-6957-8CE0-035D-6AA8CA40AC31}"/>
              </a:ext>
            </a:extLst>
          </p:cNvPr>
          <p:cNvSpPr txBox="1"/>
          <p:nvPr/>
        </p:nvSpPr>
        <p:spPr>
          <a:xfrm>
            <a:off x="7874000" y="43688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Adversarial stress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E0618D3-9504-2E16-B88E-62932BD916D5}"/>
              </a:ext>
            </a:extLst>
          </p:cNvPr>
          <p:cNvSpPr txBox="1"/>
          <p:nvPr/>
        </p:nvSpPr>
        <p:spPr>
          <a:xfrm>
            <a:off x="10515600" y="4368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BFFF00"/>
                </a:solidFill>
                <a:latin typeface="Consolas" panose="020B0609020204030204" pitchFamily="49" charset="0"/>
              </a:rPr>
              <a:t>PASS</a:t>
            </a:r>
            <a:endParaRPr lang="zh-CN" altLang="en-US" sz="1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5B5A4C7F-0995-34E6-4FE3-65F0C0D5DC7A}"/>
              </a:ext>
            </a:extLst>
          </p:cNvPr>
          <p:cNvCxnSpPr/>
          <p:nvPr/>
        </p:nvCxnSpPr>
        <p:spPr>
          <a:xfrm>
            <a:off x="7874000" y="4953000"/>
            <a:ext cx="33020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D0BF2FC0-F39E-5D17-3DDC-FC0F59B04D68}"/>
              </a:ext>
            </a:extLst>
          </p:cNvPr>
          <p:cNvSpPr txBox="1"/>
          <p:nvPr/>
        </p:nvSpPr>
        <p:spPr>
          <a:xfrm>
            <a:off x="7874000" y="51816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100" b="1">
                <a:solidFill>
                  <a:srgbClr val="FFFFFF"/>
                </a:solidFill>
                <a:latin typeface="Microsoft YaHei" panose="020B0503020204020204" pitchFamily="34" charset="-122"/>
              </a:rPr>
              <a:t>RELEASE</a:t>
            </a:r>
            <a:endParaRPr lang="zh-CN" altLang="en-US" sz="21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EB3C675-B89D-0CD5-98F8-F6D41DFBBD9F}"/>
              </a:ext>
            </a:extLst>
          </p:cNvPr>
          <p:cNvSpPr txBox="1"/>
          <p:nvPr/>
        </p:nvSpPr>
        <p:spPr>
          <a:xfrm>
            <a:off x="9829800" y="5181600"/>
            <a:ext cx="134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700" b="1">
                <a:solidFill>
                  <a:srgbClr val="BFFF00"/>
                </a:solidFill>
                <a:latin typeface="Consolas" panose="020B0609020204030204" pitchFamily="49" charset="0"/>
              </a:rPr>
              <a:t>100 / 100</a:t>
            </a:r>
            <a:endParaRPr lang="zh-CN" altLang="en-US" sz="17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F29ADA4E-4E73-0A1B-6AAE-B7AD1BA2BF2F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4DB22934-6E3F-0B14-78A8-3E1FDFA42E96}"/>
              </a:ext>
            </a:extLst>
          </p:cNvPr>
          <p:cNvSpPr txBox="1"/>
          <p:nvPr/>
        </p:nvSpPr>
        <p:spPr>
          <a:xfrm>
            <a:off x="609600" y="65532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BEETRUST / LOCAL E2E / 19 SEP 2026</a:t>
            </a:r>
            <a:endParaRPr lang="zh-CN" altLang="en-US" sz="800">
              <a:solidFill>
                <a:srgbClr val="A6B9D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3528CEF-3B2A-0B1F-345B-53977E7B222D}"/>
              </a:ext>
            </a:extLst>
          </p:cNvPr>
          <p:cNvSpPr txBox="1"/>
          <p:nvPr/>
        </p:nvSpPr>
        <p:spPr>
          <a:xfrm>
            <a:off x="11049000" y="6527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 b="1">
                <a:solidFill>
                  <a:srgbClr val="F4F8FF"/>
                </a:solidFill>
                <a:latin typeface="Consolas" panose="020B0609020204030204" pitchFamily="49" charset="0"/>
              </a:rPr>
              <a:t>02</a:t>
            </a:r>
            <a:endParaRPr lang="zh-CN" altLang="en-US" sz="900" b="1">
              <a:solidFill>
                <a:srgbClr val="F4F8F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22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32F2EC20-105C-E56C-9067-8B9A0F8D75A9}"/>
              </a:ext>
            </a:extLst>
          </p:cNvPr>
          <p:cNvSpPr/>
          <p:nvPr/>
        </p:nvSpPr>
        <p:spPr>
          <a:xfrm>
            <a:off x="4191000" y="2997200"/>
            <a:ext cx="3302000" cy="3302000"/>
          </a:xfrm>
          <a:prstGeom prst="ellipse">
            <a:avLst/>
          </a:prstGeom>
          <a:solidFill>
            <a:srgbClr val="00DC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6067264-6217-5822-05E2-291E45A6DA5E}"/>
              </a:ext>
            </a:extLst>
          </p:cNvPr>
          <p:cNvSpPr/>
          <p:nvPr/>
        </p:nvSpPr>
        <p:spPr>
          <a:xfrm>
            <a:off x="-1371600" y="4343400"/>
            <a:ext cx="3810000" cy="3810000"/>
          </a:xfrm>
          <a:prstGeom prst="ellipse">
            <a:avLst/>
          </a:prstGeom>
          <a:solidFill>
            <a:srgbClr val="AA36FF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70C11F95-79DA-0969-CFBA-B0E2908376B5}"/>
              </a:ext>
            </a:extLst>
          </p:cNvPr>
          <p:cNvSpPr/>
          <p:nvPr/>
        </p:nvSpPr>
        <p:spPr>
          <a:xfrm>
            <a:off x="8585200" y="-1168400"/>
            <a:ext cx="4318000" cy="4318000"/>
          </a:xfrm>
          <a:prstGeom prst="ellipse">
            <a:avLst/>
          </a:prstGeom>
          <a:solidFill>
            <a:srgbClr val="417EFF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F7DC6B8-9BD8-97C4-AC74-5EB3A2ED2811}"/>
              </a:ext>
            </a:extLst>
          </p:cNvPr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AD7BC03-417F-208D-83A4-FB22D334F2E8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520310A-E620-96D8-19AA-2A658B081A45}"/>
              </a:ext>
            </a:extLst>
          </p:cNvPr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5EE11B8-3FA7-0718-B89D-286E73817698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66CE048-6045-9309-C2DB-EC00075BCAC4}"/>
              </a:ext>
            </a:extLst>
          </p:cNvPr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647FD13-FDE2-1694-0AAC-6333A620B283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AF496D1-490C-7EB2-118C-62B91A004B83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9086C7C-106B-0BB5-66BA-31AE91FBCB2A}"/>
              </a:ext>
            </a:extLst>
          </p:cNvPr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5483F3A-F8A0-9C1C-1C61-98A199D6262C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64373CE-C664-F583-6607-44787AFFF4A7}"/>
              </a:ext>
            </a:extLst>
          </p:cNvPr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F9FEA74-8C98-8106-939F-B5295094C012}"/>
              </a:ext>
            </a:extLst>
          </p:cNvPr>
          <p:cNvCxnSpPr/>
          <p:nvPr/>
        </p:nvCxnSpPr>
        <p:spPr>
          <a:xfrm>
            <a:off x="0" y="863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A6D0879-3BA5-F3E6-3225-4C20E62C9ED4}"/>
              </a:ext>
            </a:extLst>
          </p:cNvPr>
          <p:cNvCxnSpPr/>
          <p:nvPr/>
        </p:nvCxnSpPr>
        <p:spPr>
          <a:xfrm>
            <a:off x="0" y="1676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AE43F8D-4681-CFD9-5A5D-8BAF22A9FF59}"/>
              </a:ext>
            </a:extLst>
          </p:cNvPr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B7E0064-F66A-831E-2E4A-A30941570D07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361A5E3-3B77-B2E8-4768-28FDF3857DF5}"/>
              </a:ext>
            </a:extLst>
          </p:cNvPr>
          <p:cNvCxnSpPr/>
          <p:nvPr/>
        </p:nvCxnSpPr>
        <p:spPr>
          <a:xfrm>
            <a:off x="0" y="41148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6E088A5-1BEE-4038-1A43-8D8808A1D0AC}"/>
              </a:ext>
            </a:extLst>
          </p:cNvPr>
          <p:cNvCxnSpPr/>
          <p:nvPr/>
        </p:nvCxnSpPr>
        <p:spPr>
          <a:xfrm>
            <a:off x="0" y="4927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C92A426-E466-D3FD-5475-20EF0BB15794}"/>
              </a:ext>
            </a:extLst>
          </p:cNvPr>
          <p:cNvCxnSpPr/>
          <p:nvPr/>
        </p:nvCxnSpPr>
        <p:spPr>
          <a:xfrm>
            <a:off x="0" y="5740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DDA72AF-DE2B-CDBB-B46D-1156DCFCDC95}"/>
              </a:ext>
            </a:extLst>
          </p:cNvPr>
          <p:cNvCxnSpPr/>
          <p:nvPr/>
        </p:nvCxnSpPr>
        <p:spPr>
          <a:xfrm>
            <a:off x="0" y="6553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1C0A8CF-1388-D252-156F-A8A7E022BC84}"/>
              </a:ext>
            </a:extLst>
          </p:cNvPr>
          <p:cNvCxnSpPr/>
          <p:nvPr/>
        </p:nvCxnSpPr>
        <p:spPr>
          <a:xfrm>
            <a:off x="8890000" y="0"/>
            <a:ext cx="3302000" cy="2032000"/>
          </a:xfrm>
          <a:prstGeom prst="line">
            <a:avLst/>
          </a:prstGeom>
          <a:ln w="12700" cap="flat" cmpd="sng" algn="ctr">
            <a:solidFill>
              <a:srgbClr val="BFFF00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3330A2A-81C7-A7EF-9DDB-D6C07AD2EB1B}"/>
              </a:ext>
            </a:extLst>
          </p:cNvPr>
          <p:cNvCxnSpPr/>
          <p:nvPr/>
        </p:nvCxnSpPr>
        <p:spPr>
          <a:xfrm>
            <a:off x="0" y="5791200"/>
            <a:ext cx="3175000" cy="1066800"/>
          </a:xfrm>
          <a:prstGeom prst="line">
            <a:avLst/>
          </a:prstGeom>
          <a:ln w="12700" cap="flat" cmpd="sng" algn="ctr">
            <a:solidFill>
              <a:srgbClr val="417EFF">
                <a:alpha val="2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F512AA49-C7DF-4DDC-7E67-5D2D81B3B316}"/>
              </a:ext>
            </a:extLst>
          </p:cNvPr>
          <p:cNvSpPr txBox="1"/>
          <p:nvPr/>
        </p:nvSpPr>
        <p:spPr>
          <a:xfrm>
            <a:off x="609600" y="406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417EFF"/>
                </a:solidFill>
                <a:latin typeface="Microsoft YaHei" panose="020B0503020204020204" pitchFamily="34" charset="-122"/>
              </a:rPr>
              <a:t>02 / ORCHESTRATION</a:t>
            </a:r>
            <a:endParaRPr lang="zh-CN" altLang="en-US" sz="900" b="1">
              <a:solidFill>
                <a:srgbClr val="417E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B30E6B5-AE70-8700-410D-1BD45DBFB072}"/>
              </a:ext>
            </a:extLst>
          </p:cNvPr>
          <p:cNvSpPr txBox="1"/>
          <p:nvPr/>
        </p:nvSpPr>
        <p:spPr>
          <a:xfrm>
            <a:off x="609600" y="685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2900">
                <a:solidFill>
                  <a:srgbClr val="F4F8FF"/>
                </a:solidFill>
                <a:latin typeface="Microsoft YaHei" panose="020B0503020204020204" pitchFamily="34" charset="-122"/>
              </a:rPr>
              <a:t>One release decision, three visible moves</a:t>
            </a:r>
            <a:endParaRPr lang="zh-CN" altLang="en-US" sz="2900">
              <a:solidFill>
                <a:srgbClr val="F4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F864DAE-691C-C951-5251-1F247DFA4DC3}"/>
              </a:ext>
            </a:extLst>
          </p:cNvPr>
          <p:cNvSpPr txBox="1"/>
          <p:nvPr/>
        </p:nvSpPr>
        <p:spPr>
          <a:xfrm>
            <a:off x="609600" y="14224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1200">
                <a:solidFill>
                  <a:srgbClr val="A6B9D8"/>
                </a:solidFill>
                <a:latin typeface="Microsoft YaHei" panose="020B0503020204020204" pitchFamily="34" charset="-122"/>
              </a:rPr>
              <a:t>Confirm the batch → verify destination and customs → release or block</a:t>
            </a:r>
            <a:endParaRPr lang="zh-CN" altLang="en-US" sz="1200">
              <a:solidFill>
                <a:srgbClr val="A6B9D8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5E71B24-1F8E-461E-CF3C-7CBC1DEAD038}"/>
              </a:ext>
            </a:extLst>
          </p:cNvPr>
          <p:cNvCxnSpPr/>
          <p:nvPr/>
        </p:nvCxnSpPr>
        <p:spPr>
          <a:xfrm>
            <a:off x="2133600" y="3022600"/>
            <a:ext cx="0" cy="660400"/>
          </a:xfrm>
          <a:prstGeom prst="line">
            <a:avLst/>
          </a:prstGeom>
          <a:ln w="2032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B4AB3C6-1603-714A-2599-4383CBFF69FC}"/>
              </a:ext>
            </a:extLst>
          </p:cNvPr>
          <p:cNvCxnSpPr/>
          <p:nvPr/>
        </p:nvCxnSpPr>
        <p:spPr>
          <a:xfrm>
            <a:off x="4241800" y="3022600"/>
            <a:ext cx="0" cy="660400"/>
          </a:xfrm>
          <a:prstGeom prst="line">
            <a:avLst/>
          </a:prstGeom>
          <a:ln w="2032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D324B5E4-2CAD-6401-42DC-09B695409AFA}"/>
              </a:ext>
            </a:extLst>
          </p:cNvPr>
          <p:cNvCxnSpPr/>
          <p:nvPr/>
        </p:nvCxnSpPr>
        <p:spPr>
          <a:xfrm>
            <a:off x="6350000" y="3022600"/>
            <a:ext cx="0" cy="660400"/>
          </a:xfrm>
          <a:prstGeom prst="line">
            <a:avLst/>
          </a:prstGeom>
          <a:ln w="2032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24BA976-79EB-69BE-BDBE-F55F54DD72DA}"/>
              </a:ext>
            </a:extLst>
          </p:cNvPr>
          <p:cNvCxnSpPr/>
          <p:nvPr/>
        </p:nvCxnSpPr>
        <p:spPr>
          <a:xfrm>
            <a:off x="2133600" y="4546600"/>
            <a:ext cx="2108200" cy="0"/>
          </a:xfrm>
          <a:prstGeom prst="line">
            <a:avLst/>
          </a:prstGeom>
          <a:ln w="2032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5E27EA5-0598-3B82-A4B0-DC2F06C49C7D}"/>
              </a:ext>
            </a:extLst>
          </p:cNvPr>
          <p:cNvCxnSpPr/>
          <p:nvPr/>
        </p:nvCxnSpPr>
        <p:spPr>
          <a:xfrm>
            <a:off x="6350000" y="4546600"/>
            <a:ext cx="2108200" cy="0"/>
          </a:xfrm>
          <a:prstGeom prst="line">
            <a:avLst/>
          </a:prstGeom>
          <a:ln w="2032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03D639F3-E452-8337-B849-758C9B31D2B5}"/>
              </a:ext>
            </a:extLst>
          </p:cNvPr>
          <p:cNvCxnSpPr/>
          <p:nvPr/>
        </p:nvCxnSpPr>
        <p:spPr>
          <a:xfrm>
            <a:off x="4241800" y="5410200"/>
            <a:ext cx="2108200" cy="0"/>
          </a:xfrm>
          <a:prstGeom prst="line">
            <a:avLst/>
          </a:prstGeom>
          <a:ln w="2032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DC078B81-6910-827D-E555-ABB792895850}"/>
              </a:ext>
            </a:extLst>
          </p:cNvPr>
          <p:cNvSpPr/>
          <p:nvPr/>
        </p:nvSpPr>
        <p:spPr>
          <a:xfrm>
            <a:off x="965200" y="2159000"/>
            <a:ext cx="2336800" cy="863600"/>
          </a:xfrm>
          <a:prstGeom prst="rect">
            <a:avLst/>
          </a:prstGeom>
          <a:solidFill>
            <a:srgbClr val="132242"/>
          </a:solidFill>
          <a:ln w="12700">
            <a:solidFill>
              <a:srgbClr val="748F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91114ED-3837-57D2-FBF3-E4EA99A5C778}"/>
              </a:ext>
            </a:extLst>
          </p:cNvPr>
          <p:cNvSpPr/>
          <p:nvPr/>
        </p:nvSpPr>
        <p:spPr>
          <a:xfrm>
            <a:off x="965200" y="2159000"/>
            <a:ext cx="101600" cy="863600"/>
          </a:xfrm>
          <a:prstGeom prst="rect">
            <a:avLst/>
          </a:prstGeom>
          <a:solidFill>
            <a:srgbClr val="417EFF"/>
          </a:solidFill>
          <a:ln w="12700">
            <a:solidFill>
              <a:srgbClr val="417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DACC9F1-4D30-A845-AC0D-23A21C516DBC}"/>
              </a:ext>
            </a:extLst>
          </p:cNvPr>
          <p:cNvSpPr txBox="1"/>
          <p:nvPr/>
        </p:nvSpPr>
        <p:spPr>
          <a:xfrm>
            <a:off x="1244600" y="2286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417EFF"/>
                </a:solidFill>
                <a:latin typeface="Consolas" panose="020B0609020204030204" pitchFamily="49" charset="0"/>
              </a:rPr>
              <a:t>01</a:t>
            </a:r>
            <a:endParaRPr lang="zh-CN" altLang="en-US" sz="1200" b="1">
              <a:solidFill>
                <a:srgbClr val="417EFF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D09B9DA-79FA-04CA-40CE-3FFAA5A5F240}"/>
              </a:ext>
            </a:extLst>
          </p:cNvPr>
          <p:cNvSpPr txBox="1"/>
          <p:nvPr/>
        </p:nvSpPr>
        <p:spPr>
          <a:xfrm>
            <a:off x="1701800" y="2273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F4F8FF"/>
                </a:solidFill>
                <a:latin typeface="Microsoft YaHei" panose="020B0503020204020204" pitchFamily="34" charset="-122"/>
              </a:rPr>
              <a:t>Confirm batch</a:t>
            </a:r>
            <a:endParaRPr lang="zh-CN" altLang="en-US" sz="1300" b="1">
              <a:solidFill>
                <a:srgbClr val="F4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EE8FAF4-BBF3-5FBF-0CD4-2562F3B4846B}"/>
              </a:ext>
            </a:extLst>
          </p:cNvPr>
          <p:cNvSpPr txBox="1"/>
          <p:nvPr/>
        </p:nvSpPr>
        <p:spPr>
          <a:xfrm>
            <a:off x="1701800" y="26035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A6B9D8"/>
                </a:solidFill>
                <a:latin typeface="Microsoft YaHei" panose="020B0503020204020204" pitchFamily="34" charset="-122"/>
              </a:rPr>
              <a:t>fingerprint + custody</a:t>
            </a:r>
            <a:endParaRPr lang="zh-CN" altLang="en-US" sz="900">
              <a:solidFill>
                <a:srgbClr val="A6B9D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196AE92-B1C5-0449-C5CB-331650504AE0}"/>
              </a:ext>
            </a:extLst>
          </p:cNvPr>
          <p:cNvSpPr/>
          <p:nvPr/>
        </p:nvSpPr>
        <p:spPr>
          <a:xfrm>
            <a:off x="3073400" y="2159000"/>
            <a:ext cx="2336800" cy="863600"/>
          </a:xfrm>
          <a:prstGeom prst="rect">
            <a:avLst/>
          </a:prstGeom>
          <a:solidFill>
            <a:srgbClr val="132242"/>
          </a:solidFill>
          <a:ln w="12700">
            <a:solidFill>
              <a:srgbClr val="748F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71357B8-FCE5-7D31-68A9-E90CC499684E}"/>
              </a:ext>
            </a:extLst>
          </p:cNvPr>
          <p:cNvSpPr/>
          <p:nvPr/>
        </p:nvSpPr>
        <p:spPr>
          <a:xfrm>
            <a:off x="3073400" y="2159000"/>
            <a:ext cx="101600" cy="863600"/>
          </a:xfrm>
          <a:prstGeom prst="rect">
            <a:avLst/>
          </a:prstGeom>
          <a:solidFill>
            <a:srgbClr val="417EFF"/>
          </a:solidFill>
          <a:ln w="12700">
            <a:solidFill>
              <a:srgbClr val="417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DC4F4D1-0E54-8A1D-8B7A-EFB5D36F7588}"/>
              </a:ext>
            </a:extLst>
          </p:cNvPr>
          <p:cNvSpPr txBox="1"/>
          <p:nvPr/>
        </p:nvSpPr>
        <p:spPr>
          <a:xfrm>
            <a:off x="3352800" y="2286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417EFF"/>
                </a:solidFill>
                <a:latin typeface="Consolas" panose="020B0609020204030204" pitchFamily="49" charset="0"/>
              </a:rPr>
              <a:t>02</a:t>
            </a:r>
            <a:endParaRPr lang="zh-CN" altLang="en-US" sz="1200" b="1">
              <a:solidFill>
                <a:srgbClr val="417EFF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5235E7D-FA3E-C4CF-03D9-7924363D9EEE}"/>
              </a:ext>
            </a:extLst>
          </p:cNvPr>
          <p:cNvSpPr txBox="1"/>
          <p:nvPr/>
        </p:nvSpPr>
        <p:spPr>
          <a:xfrm>
            <a:off x="3810000" y="2273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F4F8FF"/>
                </a:solidFill>
                <a:latin typeface="Microsoft YaHei" panose="020B0503020204020204" pitchFamily="34" charset="-122"/>
              </a:rPr>
              <a:t>Destination</a:t>
            </a:r>
            <a:endParaRPr lang="zh-CN" altLang="en-US" sz="1300" b="1">
              <a:solidFill>
                <a:srgbClr val="F4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7C53F98-B244-113A-1EC1-D3DBA4BD9653}"/>
              </a:ext>
            </a:extLst>
          </p:cNvPr>
          <p:cNvSpPr txBox="1"/>
          <p:nvPr/>
        </p:nvSpPr>
        <p:spPr>
          <a:xfrm>
            <a:off x="3810000" y="26035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A6B9D8"/>
                </a:solidFill>
                <a:latin typeface="Microsoft YaHei" panose="020B0503020204020204" pitchFamily="34" charset="-122"/>
              </a:rPr>
              <a:t>MPI + customs</a:t>
            </a:r>
            <a:endParaRPr lang="zh-CN" altLang="en-US" sz="900">
              <a:solidFill>
                <a:srgbClr val="A6B9D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CB91FA9-8F64-7FC6-5888-026D3F7A210D}"/>
              </a:ext>
            </a:extLst>
          </p:cNvPr>
          <p:cNvSpPr/>
          <p:nvPr/>
        </p:nvSpPr>
        <p:spPr>
          <a:xfrm>
            <a:off x="5181600" y="2159000"/>
            <a:ext cx="2336800" cy="863600"/>
          </a:xfrm>
          <a:prstGeom prst="rect">
            <a:avLst/>
          </a:prstGeom>
          <a:solidFill>
            <a:srgbClr val="132242"/>
          </a:solidFill>
          <a:ln w="12700">
            <a:solidFill>
              <a:srgbClr val="748F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3B111D7-D7BF-D93F-32D4-AA779EBC7BE3}"/>
              </a:ext>
            </a:extLst>
          </p:cNvPr>
          <p:cNvSpPr/>
          <p:nvPr/>
        </p:nvSpPr>
        <p:spPr>
          <a:xfrm>
            <a:off x="5181600" y="2159000"/>
            <a:ext cx="101600" cy="863600"/>
          </a:xfrm>
          <a:prstGeom prst="rect">
            <a:avLst/>
          </a:prstGeom>
          <a:solidFill>
            <a:srgbClr val="417EFF"/>
          </a:solidFill>
          <a:ln w="12700">
            <a:solidFill>
              <a:srgbClr val="417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D84DCEB-F8D9-DC8A-B03B-7225F31BA5A9}"/>
              </a:ext>
            </a:extLst>
          </p:cNvPr>
          <p:cNvSpPr txBox="1"/>
          <p:nvPr/>
        </p:nvSpPr>
        <p:spPr>
          <a:xfrm>
            <a:off x="5461000" y="2286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417EFF"/>
                </a:solidFill>
                <a:latin typeface="Consolas" panose="020B0609020204030204" pitchFamily="49" charset="0"/>
              </a:rPr>
              <a:t>03</a:t>
            </a:r>
            <a:endParaRPr lang="zh-CN" altLang="en-US" sz="1200" b="1">
              <a:solidFill>
                <a:srgbClr val="417EFF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128AF7F-6587-BC33-67BB-215896FEBCD4}"/>
              </a:ext>
            </a:extLst>
          </p:cNvPr>
          <p:cNvSpPr txBox="1"/>
          <p:nvPr/>
        </p:nvSpPr>
        <p:spPr>
          <a:xfrm>
            <a:off x="5918200" y="2273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F4F8FF"/>
                </a:solidFill>
                <a:latin typeface="Microsoft YaHei" panose="020B0503020204020204" pitchFamily="34" charset="-122"/>
              </a:rPr>
              <a:t>Evidence pack</a:t>
            </a:r>
            <a:endParaRPr lang="zh-CN" altLang="en-US" sz="1300" b="1">
              <a:solidFill>
                <a:srgbClr val="F4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F53583F-F78E-3844-8CE9-1EFAC2827CAA}"/>
              </a:ext>
            </a:extLst>
          </p:cNvPr>
          <p:cNvSpPr txBox="1"/>
          <p:nvPr/>
        </p:nvSpPr>
        <p:spPr>
          <a:xfrm>
            <a:off x="5918200" y="26035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A6B9D8"/>
                </a:solidFill>
                <a:latin typeface="Microsoft YaHei" panose="020B0503020204020204" pitchFamily="34" charset="-122"/>
              </a:rPr>
              <a:t>rules + docs + cost</a:t>
            </a:r>
            <a:endParaRPr lang="zh-CN" altLang="en-US" sz="900">
              <a:solidFill>
                <a:srgbClr val="A6B9D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E5B5932-9DC2-B259-F7EB-1469B6F4471A}"/>
              </a:ext>
            </a:extLst>
          </p:cNvPr>
          <p:cNvSpPr/>
          <p:nvPr/>
        </p:nvSpPr>
        <p:spPr>
          <a:xfrm>
            <a:off x="3073400" y="3683000"/>
            <a:ext cx="2336800" cy="863600"/>
          </a:xfrm>
          <a:prstGeom prst="rect">
            <a:avLst/>
          </a:prstGeom>
          <a:solidFill>
            <a:srgbClr val="132242"/>
          </a:solidFill>
          <a:ln w="12700">
            <a:solidFill>
              <a:srgbClr val="748F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4FCE376-0381-0293-FEA1-44EAC95E66FE}"/>
              </a:ext>
            </a:extLst>
          </p:cNvPr>
          <p:cNvSpPr/>
          <p:nvPr/>
        </p:nvSpPr>
        <p:spPr>
          <a:xfrm>
            <a:off x="3073400" y="3683000"/>
            <a:ext cx="101600" cy="863600"/>
          </a:xfrm>
          <a:prstGeom prst="rect">
            <a:avLst/>
          </a:prstGeom>
          <a:solidFill>
            <a:srgbClr val="FFE400"/>
          </a:solidFill>
          <a:ln w="12700">
            <a:solidFill>
              <a:srgbClr val="FFE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49D8866-380D-5BA4-8B48-8CC29F355138}"/>
              </a:ext>
            </a:extLst>
          </p:cNvPr>
          <p:cNvSpPr txBox="1"/>
          <p:nvPr/>
        </p:nvSpPr>
        <p:spPr>
          <a:xfrm>
            <a:off x="3352800" y="3810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FFE400"/>
                </a:solidFill>
                <a:latin typeface="Consolas" panose="020B0609020204030204" pitchFamily="49" charset="0"/>
              </a:rPr>
              <a:t>04</a:t>
            </a:r>
            <a:endParaRPr lang="zh-CN" altLang="en-US" sz="1200" b="1">
              <a:solidFill>
                <a:srgbClr val="FFE400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4ACD0D1-FADD-5753-44CF-DD2772ABFA31}"/>
              </a:ext>
            </a:extLst>
          </p:cNvPr>
          <p:cNvSpPr txBox="1"/>
          <p:nvPr/>
        </p:nvSpPr>
        <p:spPr>
          <a:xfrm>
            <a:off x="3810000" y="3797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F4F8FF"/>
                </a:solidFill>
                <a:latin typeface="Microsoft YaHei" panose="020B0503020204020204" pitchFamily="34" charset="-122"/>
              </a:rPr>
              <a:t>Stress test</a:t>
            </a:r>
            <a:endParaRPr lang="zh-CN" altLang="en-US" sz="1300" b="1">
              <a:solidFill>
                <a:srgbClr val="F4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08BFC25-03C9-D71B-9A7A-91AFB887F16B}"/>
              </a:ext>
            </a:extLst>
          </p:cNvPr>
          <p:cNvSpPr txBox="1"/>
          <p:nvPr/>
        </p:nvSpPr>
        <p:spPr>
          <a:xfrm>
            <a:off x="3810000" y="41275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A6B9D8"/>
                </a:solidFill>
                <a:latin typeface="Microsoft YaHei" panose="020B0503020204020204" pitchFamily="34" charset="-122"/>
              </a:rPr>
              <a:t>six controlled faults</a:t>
            </a:r>
            <a:endParaRPr lang="zh-CN" altLang="en-US" sz="900">
              <a:solidFill>
                <a:srgbClr val="A6B9D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4BA5F2E-35F7-D943-F173-3995ECC7A733}"/>
              </a:ext>
            </a:extLst>
          </p:cNvPr>
          <p:cNvSpPr/>
          <p:nvPr/>
        </p:nvSpPr>
        <p:spPr>
          <a:xfrm>
            <a:off x="7289800" y="3683000"/>
            <a:ext cx="2336800" cy="863600"/>
          </a:xfrm>
          <a:prstGeom prst="rect">
            <a:avLst/>
          </a:prstGeom>
          <a:solidFill>
            <a:srgbClr val="132242"/>
          </a:solidFill>
          <a:ln w="12700">
            <a:solidFill>
              <a:srgbClr val="748F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30CFFCA-C451-3085-6F9E-5904204B3E73}"/>
              </a:ext>
            </a:extLst>
          </p:cNvPr>
          <p:cNvSpPr/>
          <p:nvPr/>
        </p:nvSpPr>
        <p:spPr>
          <a:xfrm>
            <a:off x="7289800" y="3683000"/>
            <a:ext cx="101600" cy="863600"/>
          </a:xfrm>
          <a:prstGeom prst="rect">
            <a:avLst/>
          </a:prstGeom>
          <a:solidFill>
            <a:srgbClr val="FF7C1C"/>
          </a:solidFill>
          <a:ln w="12700">
            <a:solidFill>
              <a:srgbClr val="FF7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6A8969-22D5-96AA-7A64-B2C4A1F456F2}"/>
              </a:ext>
            </a:extLst>
          </p:cNvPr>
          <p:cNvSpPr txBox="1"/>
          <p:nvPr/>
        </p:nvSpPr>
        <p:spPr>
          <a:xfrm>
            <a:off x="7569200" y="3810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FF7C1C"/>
                </a:solidFill>
                <a:latin typeface="Consolas" panose="020B0609020204030204" pitchFamily="49" charset="0"/>
              </a:rPr>
              <a:t>05</a:t>
            </a:r>
            <a:endParaRPr lang="zh-CN" altLang="en-US" sz="1200" b="1">
              <a:solidFill>
                <a:srgbClr val="FF7C1C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44D440F-A825-A4AA-38C3-2FB8D76DC025}"/>
              </a:ext>
            </a:extLst>
          </p:cNvPr>
          <p:cNvSpPr txBox="1"/>
          <p:nvPr/>
        </p:nvSpPr>
        <p:spPr>
          <a:xfrm>
            <a:off x="8026400" y="3797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F4F8FF"/>
                </a:solidFill>
                <a:latin typeface="Microsoft YaHei" panose="020B0503020204020204" pitchFamily="34" charset="-122"/>
              </a:rPr>
              <a:t>Block anomalies</a:t>
            </a:r>
            <a:endParaRPr lang="zh-CN" altLang="en-US" sz="1300" b="1">
              <a:solidFill>
                <a:srgbClr val="F4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299992A-BF12-19D7-1B8D-77F800CD7261}"/>
              </a:ext>
            </a:extLst>
          </p:cNvPr>
          <p:cNvSpPr txBox="1"/>
          <p:nvPr/>
        </p:nvSpPr>
        <p:spPr>
          <a:xfrm>
            <a:off x="8026400" y="41275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A6B9D8"/>
                </a:solidFill>
                <a:latin typeface="Microsoft YaHei" panose="020B0503020204020204" pitchFamily="34" charset="-122"/>
              </a:rPr>
              <a:t>stop on fact change</a:t>
            </a:r>
            <a:endParaRPr lang="zh-CN" altLang="en-US" sz="900">
              <a:solidFill>
                <a:srgbClr val="A6B9D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E7DFBCD-6167-95FC-2480-4843270972C6}"/>
              </a:ext>
            </a:extLst>
          </p:cNvPr>
          <p:cNvSpPr/>
          <p:nvPr/>
        </p:nvSpPr>
        <p:spPr>
          <a:xfrm>
            <a:off x="5181600" y="5283200"/>
            <a:ext cx="2336800" cy="863600"/>
          </a:xfrm>
          <a:prstGeom prst="rect">
            <a:avLst/>
          </a:prstGeom>
          <a:solidFill>
            <a:srgbClr val="132242"/>
          </a:solidFill>
          <a:ln w="12700">
            <a:solidFill>
              <a:srgbClr val="748F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DEF9CFA-4FDE-2B91-4753-8DB2A8F126DD}"/>
              </a:ext>
            </a:extLst>
          </p:cNvPr>
          <p:cNvSpPr/>
          <p:nvPr/>
        </p:nvSpPr>
        <p:spPr>
          <a:xfrm>
            <a:off x="5181600" y="5283200"/>
            <a:ext cx="101600" cy="863600"/>
          </a:xfrm>
          <a:prstGeom prst="rect">
            <a:avLst/>
          </a:prstGeom>
          <a:solidFill>
            <a:srgbClr val="12AE6F"/>
          </a:solidFill>
          <a:ln w="12700">
            <a:solidFill>
              <a:srgbClr val="12AE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0C2BEF6-3D95-F574-5D92-A1B78BF8A8A1}"/>
              </a:ext>
            </a:extLst>
          </p:cNvPr>
          <p:cNvSpPr txBox="1"/>
          <p:nvPr/>
        </p:nvSpPr>
        <p:spPr>
          <a:xfrm>
            <a:off x="5461000" y="54102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12AE6F"/>
                </a:solidFill>
                <a:latin typeface="Consolas" panose="020B0609020204030204" pitchFamily="49" charset="0"/>
              </a:rPr>
              <a:t>06</a:t>
            </a:r>
            <a:endParaRPr lang="zh-CN" altLang="en-US" sz="1200" b="1">
              <a:solidFill>
                <a:srgbClr val="12AE6F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79A36C4-20E2-C697-9C3B-8D3A9093865C}"/>
              </a:ext>
            </a:extLst>
          </p:cNvPr>
          <p:cNvSpPr txBox="1"/>
          <p:nvPr/>
        </p:nvSpPr>
        <p:spPr>
          <a:xfrm>
            <a:off x="5918200" y="53975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F4F8FF"/>
                </a:solidFill>
                <a:latin typeface="Microsoft YaHei" panose="020B0503020204020204" pitchFamily="34" charset="-122"/>
              </a:rPr>
              <a:t>Final release</a:t>
            </a:r>
            <a:endParaRPr lang="zh-CN" altLang="en-US" sz="1300" b="1">
              <a:solidFill>
                <a:srgbClr val="F4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EA93C2D-2D26-C55F-7AC1-EF2898E1791C}"/>
              </a:ext>
            </a:extLst>
          </p:cNvPr>
          <p:cNvSpPr txBox="1"/>
          <p:nvPr/>
        </p:nvSpPr>
        <p:spPr>
          <a:xfrm>
            <a:off x="5918200" y="57277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A6B9D8"/>
                </a:solidFill>
                <a:latin typeface="Microsoft YaHei" panose="020B0503020204020204" pitchFamily="34" charset="-122"/>
              </a:rPr>
              <a:t>broker decision</a:t>
            </a:r>
            <a:endParaRPr lang="zh-CN" altLang="en-US" sz="900">
              <a:solidFill>
                <a:srgbClr val="A6B9D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368D736-B7BD-9B20-8286-8E31AE7FA0D7}"/>
              </a:ext>
            </a:extLst>
          </p:cNvPr>
          <p:cNvSpPr/>
          <p:nvPr/>
        </p:nvSpPr>
        <p:spPr>
          <a:xfrm>
            <a:off x="9982200" y="2159000"/>
            <a:ext cx="1600200" cy="3479800"/>
          </a:xfrm>
          <a:prstGeom prst="rect">
            <a:avLst/>
          </a:prstGeom>
          <a:solidFill>
            <a:srgbClr val="050B1E"/>
          </a:solidFill>
          <a:ln w="12700">
            <a:solidFill>
              <a:srgbClr val="050B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52F8D593-D38D-1CB6-1D67-6900175AD3D5}"/>
              </a:ext>
            </a:extLst>
          </p:cNvPr>
          <p:cNvSpPr txBox="1"/>
          <p:nvPr/>
        </p:nvSpPr>
        <p:spPr>
          <a:xfrm>
            <a:off x="10287000" y="24892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BFFF00"/>
                </a:solidFill>
                <a:latin typeface="Microsoft YaHei" panose="020B0503020204020204" pitchFamily="34" charset="-122"/>
              </a:rPr>
              <a:t>RUNTIME</a:t>
            </a:r>
            <a:endParaRPr lang="zh-CN" altLang="en-US" sz="900" b="1">
              <a:solidFill>
                <a:srgbClr val="BFFF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1FF5757-1785-6691-63DE-114CED80A97D}"/>
              </a:ext>
            </a:extLst>
          </p:cNvPr>
          <p:cNvSpPr txBox="1"/>
          <p:nvPr/>
        </p:nvSpPr>
        <p:spPr>
          <a:xfrm>
            <a:off x="10287000" y="28702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400">
                <a:solidFill>
                  <a:srgbClr val="FFFFFF"/>
                </a:solidFill>
                <a:latin typeface="Consolas" panose="020B0609020204030204" pitchFamily="49" charset="0"/>
              </a:rPr>
              <a:t>3</a:t>
            </a:r>
            <a:endParaRPr lang="zh-CN" altLang="en-US" sz="34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D2A066CC-0D2A-36DA-0782-DC2A8CDEB497}"/>
              </a:ext>
            </a:extLst>
          </p:cNvPr>
          <p:cNvSpPr txBox="1"/>
          <p:nvPr/>
        </p:nvSpPr>
        <p:spPr>
          <a:xfrm>
            <a:off x="10287000" y="35560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A6B9D8"/>
                </a:solidFill>
                <a:latin typeface="Microsoft YaHei" panose="020B0503020204020204" pitchFamily="34" charset="-122"/>
              </a:rPr>
              <a:t>PARALLEL ROOTS</a:t>
            </a:r>
            <a:endParaRPr lang="zh-CN" altLang="en-US" sz="900" b="1">
              <a:solidFill>
                <a:srgbClr val="A6B9D8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9C0818F8-A909-22DA-B16D-858FB275A75F}"/>
              </a:ext>
            </a:extLst>
          </p:cNvPr>
          <p:cNvCxnSpPr/>
          <p:nvPr/>
        </p:nvCxnSpPr>
        <p:spPr>
          <a:xfrm>
            <a:off x="10287000" y="4064000"/>
            <a:ext cx="9906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ED8A1B62-765E-C0C8-2238-ADEDE29A3808}"/>
              </a:ext>
            </a:extLst>
          </p:cNvPr>
          <p:cNvSpPr txBox="1"/>
          <p:nvPr/>
        </p:nvSpPr>
        <p:spPr>
          <a:xfrm>
            <a:off x="10287000" y="42672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400">
                <a:solidFill>
                  <a:srgbClr val="BFFF00"/>
                </a:solidFill>
                <a:latin typeface="Consolas" panose="020B0609020204030204" pitchFamily="49" charset="0"/>
              </a:rPr>
              <a:t>10</a:t>
            </a:r>
            <a:endParaRPr lang="zh-CN" altLang="en-US" sz="3400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110AD32-CC93-73E0-5890-B76EBEDA045B}"/>
              </a:ext>
            </a:extLst>
          </p:cNvPr>
          <p:cNvSpPr txBox="1"/>
          <p:nvPr/>
        </p:nvSpPr>
        <p:spPr>
          <a:xfrm>
            <a:off x="10287000" y="49530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A6B9D8"/>
                </a:solidFill>
                <a:latin typeface="Microsoft YaHei" panose="020B0503020204020204" pitchFamily="34" charset="-122"/>
              </a:rPr>
              <a:t>DEPENDENCY EDGES</a:t>
            </a:r>
            <a:endParaRPr lang="zh-CN" altLang="en-US" sz="900" b="1">
              <a:solidFill>
                <a:srgbClr val="A6B9D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80EFBC97-E0D7-EAF5-8496-32E8A9850197}"/>
              </a:ext>
            </a:extLst>
          </p:cNvPr>
          <p:cNvSpPr txBox="1"/>
          <p:nvPr/>
        </p:nvSpPr>
        <p:spPr>
          <a:xfrm>
            <a:off x="10287000" y="53848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FFFFFF"/>
                </a:solidFill>
                <a:latin typeface="Microsoft YaHei" panose="020B0503020204020204" pitchFamily="34" charset="-122"/>
              </a:rPr>
              <a:t>4-stage critical path</a:t>
            </a:r>
            <a:endParaRPr lang="zh-CN" altLang="en-US" sz="9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FFFF0915-7B17-1510-332A-FD58D66258A4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B2EE79A4-0E29-D8A0-1155-2BADDA6CDB2B}"/>
              </a:ext>
            </a:extLst>
          </p:cNvPr>
          <p:cNvSpPr txBox="1"/>
          <p:nvPr/>
        </p:nvSpPr>
        <p:spPr>
          <a:xfrm>
            <a:off x="609600" y="65532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BEETRUST / LOCAL E2E / 19 SEP 2026</a:t>
            </a:r>
            <a:endParaRPr lang="zh-CN" altLang="en-US" sz="800">
              <a:solidFill>
                <a:srgbClr val="A6B9D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7C9FB696-8AD8-EFF0-0494-85B73A57669C}"/>
              </a:ext>
            </a:extLst>
          </p:cNvPr>
          <p:cNvSpPr txBox="1"/>
          <p:nvPr/>
        </p:nvSpPr>
        <p:spPr>
          <a:xfrm>
            <a:off x="11049000" y="6527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 b="1">
                <a:solidFill>
                  <a:srgbClr val="F4F8FF"/>
                </a:solidFill>
                <a:latin typeface="Consolas" panose="020B0609020204030204" pitchFamily="49" charset="0"/>
              </a:rPr>
              <a:t>03</a:t>
            </a:r>
            <a:endParaRPr lang="zh-CN" altLang="en-US" sz="900" b="1">
              <a:solidFill>
                <a:srgbClr val="F4F8F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276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3D3DE710-192E-C8E7-2FC9-D5230AB26DEA}"/>
              </a:ext>
            </a:extLst>
          </p:cNvPr>
          <p:cNvSpPr/>
          <p:nvPr/>
        </p:nvSpPr>
        <p:spPr>
          <a:xfrm>
            <a:off x="4191000" y="2997200"/>
            <a:ext cx="3302000" cy="3302000"/>
          </a:xfrm>
          <a:prstGeom prst="ellipse">
            <a:avLst/>
          </a:prstGeom>
          <a:solidFill>
            <a:srgbClr val="00DC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2B0D5EC-5E93-3D51-0071-590BAF9F9D6A}"/>
              </a:ext>
            </a:extLst>
          </p:cNvPr>
          <p:cNvSpPr/>
          <p:nvPr/>
        </p:nvSpPr>
        <p:spPr>
          <a:xfrm>
            <a:off x="-1371600" y="4343400"/>
            <a:ext cx="3810000" cy="3810000"/>
          </a:xfrm>
          <a:prstGeom prst="ellipse">
            <a:avLst/>
          </a:prstGeom>
          <a:solidFill>
            <a:srgbClr val="AA36FF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1C4CE626-A02E-BE7F-CB56-AB4BAED066F9}"/>
              </a:ext>
            </a:extLst>
          </p:cNvPr>
          <p:cNvSpPr/>
          <p:nvPr/>
        </p:nvSpPr>
        <p:spPr>
          <a:xfrm>
            <a:off x="8585200" y="-1168400"/>
            <a:ext cx="4318000" cy="4318000"/>
          </a:xfrm>
          <a:prstGeom prst="ellipse">
            <a:avLst/>
          </a:prstGeom>
          <a:solidFill>
            <a:srgbClr val="417EFF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5F88700-3B0D-9E56-4B3A-BB7A464D14B9}"/>
              </a:ext>
            </a:extLst>
          </p:cNvPr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A0E2EAF-A88A-CD33-3548-A295F2CBE764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884EDE8-120A-628C-DA5C-701DE8696102}"/>
              </a:ext>
            </a:extLst>
          </p:cNvPr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91891ED-A34D-68D1-7F51-727D79410CB1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EB0A797-8618-5279-DFA5-82AE30DA1B74}"/>
              </a:ext>
            </a:extLst>
          </p:cNvPr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790DC98-DA8A-0090-526B-E5377BA2B002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AAA0EA7-639C-39A9-D1C2-A36D4EEBC6D2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5EF34D0-089C-8DAC-2803-E6179DC34CA6}"/>
              </a:ext>
            </a:extLst>
          </p:cNvPr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5896107-4E66-4AA7-AE28-98D7AC2860D6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34FB31A-CFA7-3E8D-4D9B-0E1320DF7897}"/>
              </a:ext>
            </a:extLst>
          </p:cNvPr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8D2AEA6-B306-7F66-75B6-D8E2287D344F}"/>
              </a:ext>
            </a:extLst>
          </p:cNvPr>
          <p:cNvCxnSpPr/>
          <p:nvPr/>
        </p:nvCxnSpPr>
        <p:spPr>
          <a:xfrm>
            <a:off x="0" y="863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1E4E307-6D51-949A-5DAB-03049F72B3AF}"/>
              </a:ext>
            </a:extLst>
          </p:cNvPr>
          <p:cNvCxnSpPr/>
          <p:nvPr/>
        </p:nvCxnSpPr>
        <p:spPr>
          <a:xfrm>
            <a:off x="0" y="1676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5969849-BF93-3381-7ECC-95005F26B4FF}"/>
              </a:ext>
            </a:extLst>
          </p:cNvPr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9F9CE50-3595-8DF9-C43A-6437B66A5BF9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1D26B1C-EFF4-A300-DE9C-FF7034544935}"/>
              </a:ext>
            </a:extLst>
          </p:cNvPr>
          <p:cNvCxnSpPr/>
          <p:nvPr/>
        </p:nvCxnSpPr>
        <p:spPr>
          <a:xfrm>
            <a:off x="0" y="41148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90C93CE-67F0-8285-8C9B-ACD266E648F1}"/>
              </a:ext>
            </a:extLst>
          </p:cNvPr>
          <p:cNvCxnSpPr/>
          <p:nvPr/>
        </p:nvCxnSpPr>
        <p:spPr>
          <a:xfrm>
            <a:off x="0" y="4927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31BB9F0-F49E-27C9-C17B-2B33C9BA6B62}"/>
              </a:ext>
            </a:extLst>
          </p:cNvPr>
          <p:cNvCxnSpPr/>
          <p:nvPr/>
        </p:nvCxnSpPr>
        <p:spPr>
          <a:xfrm>
            <a:off x="0" y="5740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88135A6-4117-FF8E-B136-9AF7314461EC}"/>
              </a:ext>
            </a:extLst>
          </p:cNvPr>
          <p:cNvCxnSpPr/>
          <p:nvPr/>
        </p:nvCxnSpPr>
        <p:spPr>
          <a:xfrm>
            <a:off x="0" y="6553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9A7766F-49A4-EF42-411B-19BED51C2DA8}"/>
              </a:ext>
            </a:extLst>
          </p:cNvPr>
          <p:cNvCxnSpPr/>
          <p:nvPr/>
        </p:nvCxnSpPr>
        <p:spPr>
          <a:xfrm>
            <a:off x="8890000" y="0"/>
            <a:ext cx="3302000" cy="2032000"/>
          </a:xfrm>
          <a:prstGeom prst="line">
            <a:avLst/>
          </a:prstGeom>
          <a:ln w="12700" cap="flat" cmpd="sng" algn="ctr">
            <a:solidFill>
              <a:srgbClr val="BFFF00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02C2FE6-9F88-5F56-333D-CB599802C74D}"/>
              </a:ext>
            </a:extLst>
          </p:cNvPr>
          <p:cNvCxnSpPr/>
          <p:nvPr/>
        </p:nvCxnSpPr>
        <p:spPr>
          <a:xfrm>
            <a:off x="0" y="5791200"/>
            <a:ext cx="3175000" cy="1066800"/>
          </a:xfrm>
          <a:prstGeom prst="line">
            <a:avLst/>
          </a:prstGeom>
          <a:ln w="12700" cap="flat" cmpd="sng" algn="ctr">
            <a:solidFill>
              <a:srgbClr val="417EFF">
                <a:alpha val="2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A5E65C6E-449A-38CE-C6CC-C752A23D371B}"/>
              </a:ext>
            </a:extLst>
          </p:cNvPr>
          <p:cNvSpPr txBox="1"/>
          <p:nvPr/>
        </p:nvSpPr>
        <p:spPr>
          <a:xfrm>
            <a:off x="609600" y="406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BFFF00"/>
                </a:solidFill>
                <a:latin typeface="Microsoft YaHei" panose="020B0503020204020204" pitchFamily="34" charset="-122"/>
              </a:rPr>
              <a:t>03 / RUNTIME PROOF</a:t>
            </a:r>
            <a:endParaRPr lang="zh-CN" altLang="en-US" sz="900" b="1">
              <a:solidFill>
                <a:srgbClr val="BFFF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F2537CB-53B1-FF81-2A10-0EA70C4BA523}"/>
              </a:ext>
            </a:extLst>
          </p:cNvPr>
          <p:cNvSpPr txBox="1"/>
          <p:nvPr/>
        </p:nvSpPr>
        <p:spPr>
          <a:xfrm>
            <a:off x="609600" y="685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2600">
                <a:solidFill>
                  <a:srgbClr val="FFFFFF"/>
                </a:solidFill>
                <a:latin typeface="Microsoft YaHei" panose="020B0503020204020204" pitchFamily="34" charset="-122"/>
              </a:rPr>
              <a:t>The page answers the business question</a:t>
            </a:r>
            <a:endParaRPr lang="zh-CN" altLang="en-US" sz="26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3D5886F-0EE1-3B04-7DDC-21827D92C777}"/>
              </a:ext>
            </a:extLst>
          </p:cNvPr>
          <p:cNvSpPr txBox="1"/>
          <p:nvPr/>
        </p:nvSpPr>
        <p:spPr>
          <a:xfrm>
            <a:off x="609600" y="13462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1200">
                <a:solidFill>
                  <a:srgbClr val="748FBE"/>
                </a:solidFill>
                <a:latin typeface="Microsoft YaHei" panose="020B0503020204020204" pitchFamily="34" charset="-122"/>
              </a:rPr>
              <a:t>Runtime evidence explains why this shipment can be released.</a:t>
            </a:r>
            <a:endParaRPr lang="zh-CN" altLang="en-US" sz="1200">
              <a:solidFill>
                <a:srgbClr val="748FB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7A42D28-A6C6-F2EF-29A6-0322FC5FA937}"/>
              </a:ext>
            </a:extLst>
          </p:cNvPr>
          <p:cNvSpPr txBox="1"/>
          <p:nvPr/>
        </p:nvSpPr>
        <p:spPr>
          <a:xfrm>
            <a:off x="609600" y="2260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100">
                <a:solidFill>
                  <a:srgbClr val="BFFF00"/>
                </a:solidFill>
                <a:latin typeface="Microsoft YaHei" panose="020B0503020204020204" pitchFamily="34" charset="-122"/>
              </a:rPr>
              <a:t>RELEASE</a:t>
            </a:r>
            <a:endParaRPr lang="zh-CN" altLang="en-US" sz="3100">
              <a:solidFill>
                <a:srgbClr val="BFFF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E5A6559-E835-A98E-4588-A2383994084E}"/>
              </a:ext>
            </a:extLst>
          </p:cNvPr>
          <p:cNvSpPr txBox="1"/>
          <p:nvPr/>
        </p:nvSpPr>
        <p:spPr>
          <a:xfrm>
            <a:off x="609600" y="2895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>
                <a:solidFill>
                  <a:srgbClr val="FFFFFF"/>
                </a:solidFill>
                <a:latin typeface="Consolas" panose="020B0609020204030204" pitchFamily="49" charset="0"/>
              </a:rPr>
              <a:t>100 / 100</a:t>
            </a:r>
            <a:endParaRPr lang="zh-CN" altLang="en-US" sz="35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02FE1F6-E24F-D9DE-05B6-B05C69EEAB6A}"/>
              </a:ext>
            </a:extLst>
          </p:cNvPr>
          <p:cNvSpPr txBox="1"/>
          <p:nvPr/>
        </p:nvSpPr>
        <p:spPr>
          <a:xfrm>
            <a:off x="609600" y="37338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5 gates PASS</a:t>
            </a:r>
            <a:endParaRPr lang="zh-CN" altLang="en-US" sz="1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D167FDB-21B8-915A-A5C4-502ED2665FCE}"/>
              </a:ext>
            </a:extLst>
          </p:cNvPr>
          <p:cNvCxnSpPr/>
          <p:nvPr/>
        </p:nvCxnSpPr>
        <p:spPr>
          <a:xfrm>
            <a:off x="609600" y="4318000"/>
            <a:ext cx="34544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B8A936B7-A953-7FEC-6080-FD9CB801C60C}"/>
              </a:ext>
            </a:extLst>
          </p:cNvPr>
          <p:cNvSpPr txBox="1"/>
          <p:nvPr/>
        </p:nvSpPr>
        <p:spPr>
          <a:xfrm>
            <a:off x="609600" y="4597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1300">
                <a:solidFill>
                  <a:srgbClr val="748FBE"/>
                </a:solidFill>
                <a:latin typeface="Microsoft YaHei" panose="020B0503020204020204" pitchFamily="34" charset="-122"/>
              </a:rPr>
              <a:t>Case, gates, faults and final decision in one view.</a:t>
            </a:r>
            <a:endParaRPr lang="zh-CN" altLang="en-US" sz="1300">
              <a:solidFill>
                <a:srgbClr val="748FB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65718DE-B36D-CDD8-81FF-5BC94AB660E3}"/>
              </a:ext>
            </a:extLst>
          </p:cNvPr>
          <p:cNvSpPr txBox="1"/>
          <p:nvPr/>
        </p:nvSpPr>
        <p:spPr>
          <a:xfrm>
            <a:off x="609600" y="55626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748FBE"/>
                </a:solidFill>
                <a:latin typeface="Microsoft YaHei" panose="020B0503020204020204" pitchFamily="34" charset="-122"/>
              </a:rPr>
              <a:t>Screenshot: npm run demo</a:t>
            </a:r>
            <a:endParaRPr lang="zh-CN" altLang="en-US" sz="900">
              <a:solidFill>
                <a:srgbClr val="748FB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569E14A-6062-3F20-5967-07C8E57FF5CD}"/>
              </a:ext>
            </a:extLst>
          </p:cNvPr>
          <p:cNvSpPr/>
          <p:nvPr/>
        </p:nvSpPr>
        <p:spPr>
          <a:xfrm>
            <a:off x="5130800" y="1879600"/>
            <a:ext cx="6451600" cy="474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 descr="Local BeeTrust dashboard showing the release decision and evidence matrix">
            <a:extLst>
              <a:ext uri="{FF2B5EF4-FFF2-40B4-BE49-F238E27FC236}">
                <a16:creationId xmlns:a16="http://schemas.microsoft.com/office/drawing/2014/main" id="{AD4724AB-932A-DEBE-1B74-DD593551B15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981200"/>
            <a:ext cx="6045200" cy="4533900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CB40BC51-7F2E-7456-DF88-8FE9DD331645}"/>
              </a:ext>
            </a:extLst>
          </p:cNvPr>
          <p:cNvSpPr txBox="1"/>
          <p:nvPr/>
        </p:nvSpPr>
        <p:spPr>
          <a:xfrm>
            <a:off x="11049000" y="6070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BFFF00"/>
                </a:solidFill>
                <a:latin typeface="Consolas" panose="020B0609020204030204" pitchFamily="49" charset="0"/>
              </a:rPr>
              <a:t>04</a:t>
            </a:r>
            <a:endParaRPr lang="zh-CN" altLang="en-US" sz="1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543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ABF1162-9838-96B0-6AEA-8ED2F0260A61}"/>
              </a:ext>
            </a:extLst>
          </p:cNvPr>
          <p:cNvSpPr/>
          <p:nvPr/>
        </p:nvSpPr>
        <p:spPr>
          <a:xfrm>
            <a:off x="4191000" y="2997200"/>
            <a:ext cx="3302000" cy="3302000"/>
          </a:xfrm>
          <a:prstGeom prst="ellipse">
            <a:avLst/>
          </a:prstGeom>
          <a:solidFill>
            <a:srgbClr val="00DC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F8FBB05-195C-DE65-6C13-97C13788CDD2}"/>
              </a:ext>
            </a:extLst>
          </p:cNvPr>
          <p:cNvSpPr/>
          <p:nvPr/>
        </p:nvSpPr>
        <p:spPr>
          <a:xfrm>
            <a:off x="-1371600" y="4343400"/>
            <a:ext cx="3810000" cy="3810000"/>
          </a:xfrm>
          <a:prstGeom prst="ellipse">
            <a:avLst/>
          </a:prstGeom>
          <a:solidFill>
            <a:srgbClr val="AA36FF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E6015AE-B47B-FA3E-5012-A54D9432952F}"/>
              </a:ext>
            </a:extLst>
          </p:cNvPr>
          <p:cNvSpPr/>
          <p:nvPr/>
        </p:nvSpPr>
        <p:spPr>
          <a:xfrm>
            <a:off x="8585200" y="-1168400"/>
            <a:ext cx="4318000" cy="4318000"/>
          </a:xfrm>
          <a:prstGeom prst="ellipse">
            <a:avLst/>
          </a:prstGeom>
          <a:solidFill>
            <a:srgbClr val="417EFF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68E31A2-91E6-D143-F949-D92E9F84EA43}"/>
              </a:ext>
            </a:extLst>
          </p:cNvPr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028DF79-7542-021F-1B42-21D555083DA9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2F47154-1EA9-E8BE-1BB1-B2B57CD95196}"/>
              </a:ext>
            </a:extLst>
          </p:cNvPr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F116E2B-EB1E-E3B7-D26D-6BD8F0E7A388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1406867-FDDE-FEF4-9067-53254EA8652E}"/>
              </a:ext>
            </a:extLst>
          </p:cNvPr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68FCAEA-720F-6FCB-3AB0-32CB504A9EF4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CA5EF57-77D7-7BFD-54C0-539354051A54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21115F5-B9FE-9579-40C2-DEC6C0FBAFCC}"/>
              </a:ext>
            </a:extLst>
          </p:cNvPr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E301120-8FAF-CC80-0411-E7F7F4C01E58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CC34A50-D4CC-E9D1-A4B5-D2ECD4D1BF48}"/>
              </a:ext>
            </a:extLst>
          </p:cNvPr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71ADDBD-3412-8927-24AA-91E92FA14F72}"/>
              </a:ext>
            </a:extLst>
          </p:cNvPr>
          <p:cNvCxnSpPr/>
          <p:nvPr/>
        </p:nvCxnSpPr>
        <p:spPr>
          <a:xfrm>
            <a:off x="0" y="863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409AA5A-4267-92DD-4FD1-DDD8580C53C8}"/>
              </a:ext>
            </a:extLst>
          </p:cNvPr>
          <p:cNvCxnSpPr/>
          <p:nvPr/>
        </p:nvCxnSpPr>
        <p:spPr>
          <a:xfrm>
            <a:off x="0" y="1676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1333279-ED64-F7BA-E6AF-3C9BFF7B975A}"/>
              </a:ext>
            </a:extLst>
          </p:cNvPr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2D6A1D7-9808-8A79-6D54-CFB7FC10D3EF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EECBC8A-630C-574C-2FBC-F842E82F16E1}"/>
              </a:ext>
            </a:extLst>
          </p:cNvPr>
          <p:cNvCxnSpPr/>
          <p:nvPr/>
        </p:nvCxnSpPr>
        <p:spPr>
          <a:xfrm>
            <a:off x="0" y="41148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843AFE2-6B9B-9AB7-B1A1-294637A6D3A2}"/>
              </a:ext>
            </a:extLst>
          </p:cNvPr>
          <p:cNvCxnSpPr/>
          <p:nvPr/>
        </p:nvCxnSpPr>
        <p:spPr>
          <a:xfrm>
            <a:off x="0" y="4927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99EAF1A-77E1-4C10-350E-C7704B716E38}"/>
              </a:ext>
            </a:extLst>
          </p:cNvPr>
          <p:cNvCxnSpPr/>
          <p:nvPr/>
        </p:nvCxnSpPr>
        <p:spPr>
          <a:xfrm>
            <a:off x="0" y="5740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D8B09E8-C02A-1C1C-4E54-59477B02FED4}"/>
              </a:ext>
            </a:extLst>
          </p:cNvPr>
          <p:cNvCxnSpPr/>
          <p:nvPr/>
        </p:nvCxnSpPr>
        <p:spPr>
          <a:xfrm>
            <a:off x="0" y="6553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EDCAEAD-8A9D-6E87-7DCA-EFC6B48B0A13}"/>
              </a:ext>
            </a:extLst>
          </p:cNvPr>
          <p:cNvCxnSpPr/>
          <p:nvPr/>
        </p:nvCxnSpPr>
        <p:spPr>
          <a:xfrm>
            <a:off x="8890000" y="0"/>
            <a:ext cx="3302000" cy="2032000"/>
          </a:xfrm>
          <a:prstGeom prst="line">
            <a:avLst/>
          </a:prstGeom>
          <a:ln w="12700" cap="flat" cmpd="sng" algn="ctr">
            <a:solidFill>
              <a:srgbClr val="BFFF00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B99F374-A3E4-D1E1-2602-FDCAE6CC09C0}"/>
              </a:ext>
            </a:extLst>
          </p:cNvPr>
          <p:cNvCxnSpPr/>
          <p:nvPr/>
        </p:nvCxnSpPr>
        <p:spPr>
          <a:xfrm>
            <a:off x="0" y="5791200"/>
            <a:ext cx="3175000" cy="1066800"/>
          </a:xfrm>
          <a:prstGeom prst="line">
            <a:avLst/>
          </a:prstGeom>
          <a:ln w="12700" cap="flat" cmpd="sng" algn="ctr">
            <a:solidFill>
              <a:srgbClr val="417EFF">
                <a:alpha val="2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17A14620-8862-C4CB-2775-7DFBAE4216B8}"/>
              </a:ext>
            </a:extLst>
          </p:cNvPr>
          <p:cNvSpPr txBox="1"/>
          <p:nvPr/>
        </p:nvSpPr>
        <p:spPr>
          <a:xfrm>
            <a:off x="609600" y="406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417EFF"/>
                </a:solidFill>
                <a:latin typeface="Microsoft YaHei" panose="020B0503020204020204" pitchFamily="34" charset="-122"/>
              </a:rPr>
              <a:t>04 / ASSURANCE</a:t>
            </a:r>
            <a:endParaRPr lang="zh-CN" altLang="en-US" sz="900" b="1">
              <a:solidFill>
                <a:srgbClr val="417E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72E2C30-0F5E-2E26-278F-38FF8E8F4730}"/>
              </a:ext>
            </a:extLst>
          </p:cNvPr>
          <p:cNvSpPr txBox="1"/>
          <p:nvPr/>
        </p:nvSpPr>
        <p:spPr>
          <a:xfrm>
            <a:off x="609600" y="685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2900">
                <a:solidFill>
                  <a:srgbClr val="F4F8FF"/>
                </a:solidFill>
                <a:latin typeface="Microsoft YaHei" panose="020B0503020204020204" pitchFamily="34" charset="-122"/>
              </a:rPr>
              <a:t>When one fact changes, release stops</a:t>
            </a:r>
            <a:endParaRPr lang="zh-CN" altLang="en-US" sz="2900">
              <a:solidFill>
                <a:srgbClr val="F4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C1C8EBC-88B4-D21F-6020-6380CFB79180}"/>
              </a:ext>
            </a:extLst>
          </p:cNvPr>
          <p:cNvSpPr txBox="1"/>
          <p:nvPr/>
        </p:nvSpPr>
        <p:spPr>
          <a:xfrm>
            <a:off x="609600" y="14224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1200">
                <a:solidFill>
                  <a:srgbClr val="A6B9D8"/>
                </a:solidFill>
                <a:latin typeface="Microsoft YaHei" panose="020B0503020204020204" pitchFamily="34" charset="-122"/>
              </a:rPr>
              <a:t>Inject six business-critical changes and make every one block the shipment</a:t>
            </a:r>
            <a:endParaRPr lang="zh-CN" altLang="en-US" sz="1200">
              <a:solidFill>
                <a:srgbClr val="A6B9D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5F117CD-BA40-6A9C-CF8B-7BA605D8570E}"/>
              </a:ext>
            </a:extLst>
          </p:cNvPr>
          <p:cNvSpPr/>
          <p:nvPr/>
        </p:nvSpPr>
        <p:spPr>
          <a:xfrm>
            <a:off x="609600" y="2082800"/>
            <a:ext cx="3048000" cy="4140200"/>
          </a:xfrm>
          <a:prstGeom prst="rect">
            <a:avLst/>
          </a:prstGeom>
          <a:solidFill>
            <a:srgbClr val="050B1E"/>
          </a:solidFill>
          <a:ln w="12700">
            <a:solidFill>
              <a:srgbClr val="050B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 descr="Local dashboard showing adversarial simulation and runtime SkillMessage timeline">
            <a:extLst>
              <a:ext uri="{FF2B5EF4-FFF2-40B4-BE49-F238E27FC236}">
                <a16:creationId xmlns:a16="http://schemas.microsoft.com/office/drawing/2014/main" id="{B2080271-4C2C-AA11-9DC2-F87B00D0F38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235200"/>
            <a:ext cx="2794000" cy="38354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150D6264-A797-F653-F3F1-6C77F1996C96}"/>
              </a:ext>
            </a:extLst>
          </p:cNvPr>
          <p:cNvSpPr txBox="1"/>
          <p:nvPr/>
        </p:nvSpPr>
        <p:spPr>
          <a:xfrm>
            <a:off x="4419600" y="2108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4700">
                <a:solidFill>
                  <a:srgbClr val="FF4A60"/>
                </a:solidFill>
                <a:latin typeface="Consolas" panose="020B0609020204030204" pitchFamily="49" charset="0"/>
              </a:rPr>
              <a:t>6 / 6</a:t>
            </a:r>
            <a:endParaRPr lang="zh-CN" altLang="en-US" sz="4700">
              <a:solidFill>
                <a:srgbClr val="FF4A60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87BAF8D-24DE-89CC-E4C8-A76786765EDC}"/>
              </a:ext>
            </a:extLst>
          </p:cNvPr>
          <p:cNvSpPr txBox="1"/>
          <p:nvPr/>
        </p:nvSpPr>
        <p:spPr>
          <a:xfrm>
            <a:off x="4445000" y="28702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all faults blocked</a:t>
            </a:r>
            <a:endParaRPr lang="zh-CN" altLang="en-US" sz="1100" b="1">
              <a:solidFill>
                <a:srgbClr val="F4F8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E729424A-A302-35D5-5B56-7D1E21884E82}"/>
              </a:ext>
            </a:extLst>
          </p:cNvPr>
          <p:cNvCxnSpPr/>
          <p:nvPr/>
        </p:nvCxnSpPr>
        <p:spPr>
          <a:xfrm>
            <a:off x="4419600" y="3429000"/>
            <a:ext cx="716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6486301E-594A-6155-36D7-A01AB38A22C1}"/>
              </a:ext>
            </a:extLst>
          </p:cNvPr>
          <p:cNvSpPr txBox="1"/>
          <p:nvPr/>
        </p:nvSpPr>
        <p:spPr>
          <a:xfrm>
            <a:off x="4419600" y="35433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Fingerprint mismatch</a:t>
            </a:r>
            <a:endParaRPr lang="zh-CN" altLang="en-US" sz="1100" b="1">
              <a:solidFill>
                <a:srgbClr val="F4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28CE28A-2032-5383-8E05-C2EE01B65BFC}"/>
              </a:ext>
            </a:extLst>
          </p:cNvPr>
          <p:cNvSpPr txBox="1"/>
          <p:nvPr/>
        </p:nvSpPr>
        <p:spPr>
          <a:xfrm>
            <a:off x="10490200" y="35433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FF4A60"/>
                </a:solidFill>
                <a:latin typeface="Consolas" panose="020B0609020204030204" pitchFamily="49" charset="0"/>
              </a:rPr>
              <a:t>BLOCKED</a:t>
            </a:r>
            <a:endParaRPr lang="zh-CN" altLang="en-US" sz="1000" b="1">
              <a:solidFill>
                <a:srgbClr val="FF4A60"/>
              </a:solidFill>
              <a:latin typeface="Consolas" panose="020B0609020204030204" pitchFamily="49" charset="0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7E6B2789-5019-DC29-7C41-848CB2BAE640}"/>
              </a:ext>
            </a:extLst>
          </p:cNvPr>
          <p:cNvCxnSpPr/>
          <p:nvPr/>
        </p:nvCxnSpPr>
        <p:spPr>
          <a:xfrm>
            <a:off x="4419600" y="3822700"/>
            <a:ext cx="716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F27DEA57-8550-3A0F-E30B-2ACAED65A274}"/>
              </a:ext>
            </a:extLst>
          </p:cNvPr>
          <p:cNvSpPr txBox="1"/>
          <p:nvPr/>
        </p:nvSpPr>
        <p:spPr>
          <a:xfrm>
            <a:off x="4419600" y="39370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Batch ID tamper</a:t>
            </a:r>
            <a:endParaRPr lang="zh-CN" altLang="en-US" sz="1100" b="1">
              <a:solidFill>
                <a:srgbClr val="F4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BAD2646-BCFC-3307-FC84-0FE6805A6B9F}"/>
              </a:ext>
            </a:extLst>
          </p:cNvPr>
          <p:cNvSpPr txBox="1"/>
          <p:nvPr/>
        </p:nvSpPr>
        <p:spPr>
          <a:xfrm>
            <a:off x="10490200" y="39370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FF4A60"/>
                </a:solidFill>
                <a:latin typeface="Consolas" panose="020B0609020204030204" pitchFamily="49" charset="0"/>
              </a:rPr>
              <a:t>BLOCKED</a:t>
            </a:r>
            <a:endParaRPr lang="zh-CN" altLang="en-US" sz="1000" b="1">
              <a:solidFill>
                <a:srgbClr val="FF4A60"/>
              </a:solidFill>
              <a:latin typeface="Consolas" panose="020B0609020204030204" pitchFamily="49" charset="0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C729DABB-1A62-5DA9-2359-C7B1DE520AAA}"/>
              </a:ext>
            </a:extLst>
          </p:cNvPr>
          <p:cNvCxnSpPr/>
          <p:nvPr/>
        </p:nvCxnSpPr>
        <p:spPr>
          <a:xfrm>
            <a:off x="4419600" y="4216400"/>
            <a:ext cx="716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3ECC55A1-6D39-FA2C-5C0D-C680C698DE12}"/>
              </a:ext>
            </a:extLst>
          </p:cNvPr>
          <p:cNvSpPr txBox="1"/>
          <p:nvPr/>
        </p:nvSpPr>
        <p:spPr>
          <a:xfrm>
            <a:off x="4419600" y="43307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Missing document</a:t>
            </a:r>
            <a:endParaRPr lang="zh-CN" altLang="en-US" sz="1100" b="1">
              <a:solidFill>
                <a:srgbClr val="F4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6960CD6-CCB9-B8FF-F68C-801F70F808A7}"/>
              </a:ext>
            </a:extLst>
          </p:cNvPr>
          <p:cNvSpPr txBox="1"/>
          <p:nvPr/>
        </p:nvSpPr>
        <p:spPr>
          <a:xfrm>
            <a:off x="10490200" y="43307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FF4A60"/>
                </a:solidFill>
                <a:latin typeface="Consolas" panose="020B0609020204030204" pitchFamily="49" charset="0"/>
              </a:rPr>
              <a:t>BLOCKED</a:t>
            </a:r>
            <a:endParaRPr lang="zh-CN" altLang="en-US" sz="1000" b="1">
              <a:solidFill>
                <a:srgbClr val="FF4A60"/>
              </a:solidFill>
              <a:latin typeface="Consolas" panose="020B0609020204030204" pitchFamily="49" charset="0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80C9885-9F76-B41C-2E18-BA7359E48D41}"/>
              </a:ext>
            </a:extLst>
          </p:cNvPr>
          <p:cNvCxnSpPr/>
          <p:nvPr/>
        </p:nvCxnSpPr>
        <p:spPr>
          <a:xfrm>
            <a:off x="4419600" y="4610100"/>
            <a:ext cx="716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93ECE355-E599-67B5-F7EF-2C5C30DE7F5B}"/>
              </a:ext>
            </a:extLst>
          </p:cNvPr>
          <p:cNvSpPr txBox="1"/>
          <p:nvPr/>
        </p:nvSpPr>
        <p:spPr>
          <a:xfrm>
            <a:off x="4419600" y="47244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Quantity mismatch</a:t>
            </a:r>
            <a:endParaRPr lang="zh-CN" altLang="en-US" sz="1100" b="1">
              <a:solidFill>
                <a:srgbClr val="F4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C422C05-7DA2-5AB8-3AE2-549A5DB6D965}"/>
              </a:ext>
            </a:extLst>
          </p:cNvPr>
          <p:cNvSpPr txBox="1"/>
          <p:nvPr/>
        </p:nvSpPr>
        <p:spPr>
          <a:xfrm>
            <a:off x="10490200" y="47244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FF4A60"/>
                </a:solidFill>
                <a:latin typeface="Consolas" panose="020B0609020204030204" pitchFamily="49" charset="0"/>
              </a:rPr>
              <a:t>BLOCKED</a:t>
            </a:r>
            <a:endParaRPr lang="zh-CN" altLang="en-US" sz="1000" b="1">
              <a:solidFill>
                <a:srgbClr val="FF4A60"/>
              </a:solidFill>
              <a:latin typeface="Consolas" panose="020B0609020204030204" pitchFamily="49" charset="0"/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6AE6B80F-9D93-5458-0964-4572671CE2CB}"/>
              </a:ext>
            </a:extLst>
          </p:cNvPr>
          <p:cNvCxnSpPr/>
          <p:nvPr/>
        </p:nvCxnSpPr>
        <p:spPr>
          <a:xfrm>
            <a:off x="4419600" y="5003800"/>
            <a:ext cx="716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88F44C5D-AA1E-1A5A-B589-E125A6397187}"/>
              </a:ext>
            </a:extLst>
          </p:cNvPr>
          <p:cNvSpPr txBox="1"/>
          <p:nvPr/>
        </p:nvSpPr>
        <p:spPr>
          <a:xfrm>
            <a:off x="4419600" y="51181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Destination change</a:t>
            </a:r>
            <a:endParaRPr lang="zh-CN" altLang="en-US" sz="1100" b="1">
              <a:solidFill>
                <a:srgbClr val="F4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F4488AF-B6E9-8B66-9C84-66618EE591D7}"/>
              </a:ext>
            </a:extLst>
          </p:cNvPr>
          <p:cNvSpPr txBox="1"/>
          <p:nvPr/>
        </p:nvSpPr>
        <p:spPr>
          <a:xfrm>
            <a:off x="10490200" y="51181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FF4A60"/>
                </a:solidFill>
                <a:latin typeface="Consolas" panose="020B0609020204030204" pitchFamily="49" charset="0"/>
              </a:rPr>
              <a:t>BLOCKED</a:t>
            </a:r>
            <a:endParaRPr lang="zh-CN" altLang="en-US" sz="1000" b="1">
              <a:solidFill>
                <a:srgbClr val="FF4A60"/>
              </a:solidFill>
              <a:latin typeface="Consolas" panose="020B0609020204030204" pitchFamily="49" charset="0"/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2F66C29A-FE50-7145-C4BF-3487052CB627}"/>
              </a:ext>
            </a:extLst>
          </p:cNvPr>
          <p:cNvCxnSpPr/>
          <p:nvPr/>
        </p:nvCxnSpPr>
        <p:spPr>
          <a:xfrm>
            <a:off x="4419600" y="5397500"/>
            <a:ext cx="716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023B77F0-7596-5204-490B-ED4E8D9444B7}"/>
              </a:ext>
            </a:extLst>
          </p:cNvPr>
          <p:cNvSpPr txBox="1"/>
          <p:nvPr/>
        </p:nvSpPr>
        <p:spPr>
          <a:xfrm>
            <a:off x="4419600" y="55118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Rule-version conflict</a:t>
            </a:r>
            <a:endParaRPr lang="zh-CN" altLang="en-US" sz="1100" b="1">
              <a:solidFill>
                <a:srgbClr val="F4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AC97F4B-50FB-1FD2-830D-13BCEC922218}"/>
              </a:ext>
            </a:extLst>
          </p:cNvPr>
          <p:cNvSpPr txBox="1"/>
          <p:nvPr/>
        </p:nvSpPr>
        <p:spPr>
          <a:xfrm>
            <a:off x="10490200" y="55118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FF4A60"/>
                </a:solidFill>
                <a:latin typeface="Consolas" panose="020B0609020204030204" pitchFamily="49" charset="0"/>
              </a:rPr>
              <a:t>BLOCKED</a:t>
            </a:r>
            <a:endParaRPr lang="zh-CN" altLang="en-US" sz="1000" b="1">
              <a:solidFill>
                <a:srgbClr val="FF4A60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F5D43F7-A772-C837-84E7-7DF14867E122}"/>
              </a:ext>
            </a:extLst>
          </p:cNvPr>
          <p:cNvSpPr txBox="1"/>
          <p:nvPr/>
        </p:nvSpPr>
        <p:spPr>
          <a:xfrm>
            <a:off x="4419600" y="59436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A6B9D8"/>
                </a:solidFill>
                <a:latin typeface="Consolas" panose="020B0609020204030204" pitchFamily="49" charset="0"/>
              </a:rPr>
              <a:t>12 runtime events / SkillMessage/v1</a:t>
            </a:r>
            <a:endParaRPr lang="zh-CN" altLang="en-US" sz="900">
              <a:solidFill>
                <a:srgbClr val="A6B9D8"/>
              </a:solidFill>
              <a:latin typeface="Consolas" panose="020B0609020204030204" pitchFamily="49" charset="0"/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D056FF17-7F94-253A-5BCB-50DD530044C5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F37F7A03-BB6B-812A-9B45-5600D1D8E524}"/>
              </a:ext>
            </a:extLst>
          </p:cNvPr>
          <p:cNvSpPr txBox="1"/>
          <p:nvPr/>
        </p:nvSpPr>
        <p:spPr>
          <a:xfrm>
            <a:off x="609600" y="65532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BEETRUST / LOCAL E2E / 19 SEP 2026</a:t>
            </a:r>
            <a:endParaRPr lang="zh-CN" altLang="en-US" sz="800">
              <a:solidFill>
                <a:srgbClr val="A6B9D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66CCCC7B-70BC-CE56-CD58-049ECD1DFD88}"/>
              </a:ext>
            </a:extLst>
          </p:cNvPr>
          <p:cNvSpPr txBox="1"/>
          <p:nvPr/>
        </p:nvSpPr>
        <p:spPr>
          <a:xfrm>
            <a:off x="11049000" y="6527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 b="1">
                <a:solidFill>
                  <a:srgbClr val="F4F8FF"/>
                </a:solidFill>
                <a:latin typeface="Consolas" panose="020B0609020204030204" pitchFamily="49" charset="0"/>
              </a:rPr>
              <a:t>05</a:t>
            </a:r>
            <a:endParaRPr lang="zh-CN" altLang="en-US" sz="900" b="1">
              <a:solidFill>
                <a:srgbClr val="F4F8F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098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50A3E524-6E7A-52B9-1E9F-BAC6C4A3DDB4}"/>
              </a:ext>
            </a:extLst>
          </p:cNvPr>
          <p:cNvSpPr/>
          <p:nvPr/>
        </p:nvSpPr>
        <p:spPr>
          <a:xfrm>
            <a:off x="4191000" y="2997200"/>
            <a:ext cx="3302000" cy="3302000"/>
          </a:xfrm>
          <a:prstGeom prst="ellipse">
            <a:avLst/>
          </a:prstGeom>
          <a:solidFill>
            <a:srgbClr val="00DC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3DFC4A-17EF-941B-4F0E-F85FB6B8F48C}"/>
              </a:ext>
            </a:extLst>
          </p:cNvPr>
          <p:cNvSpPr/>
          <p:nvPr/>
        </p:nvSpPr>
        <p:spPr>
          <a:xfrm>
            <a:off x="-1371600" y="4343400"/>
            <a:ext cx="3810000" cy="3810000"/>
          </a:xfrm>
          <a:prstGeom prst="ellipse">
            <a:avLst/>
          </a:prstGeom>
          <a:solidFill>
            <a:srgbClr val="AA36FF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DF2F6E9-AB4C-1ECF-C41F-CD17B7F8398D}"/>
              </a:ext>
            </a:extLst>
          </p:cNvPr>
          <p:cNvSpPr/>
          <p:nvPr/>
        </p:nvSpPr>
        <p:spPr>
          <a:xfrm>
            <a:off x="8585200" y="-1168400"/>
            <a:ext cx="4318000" cy="4318000"/>
          </a:xfrm>
          <a:prstGeom prst="ellipse">
            <a:avLst/>
          </a:prstGeom>
          <a:solidFill>
            <a:srgbClr val="417EFF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5F9C580-D751-218A-2B08-58F1C74AAEE2}"/>
              </a:ext>
            </a:extLst>
          </p:cNvPr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AD10BD1-79FF-78B9-EA09-8C97AE06A89B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6099535-53FF-6CB3-4B7A-CCF9FFBE66BA}"/>
              </a:ext>
            </a:extLst>
          </p:cNvPr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B0D9260-358D-C601-D5C0-D9256F5D99D8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6BF2B82-6C5F-B2B4-15FE-962455463347}"/>
              </a:ext>
            </a:extLst>
          </p:cNvPr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FE67341-2097-8F50-4CFD-4D4C0C15FAC4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6F5C994-78AA-17C0-CCD8-E12D4A28509A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F4FC2A4-D0CE-1CF3-D51D-74AB8B1ADBDC}"/>
              </a:ext>
            </a:extLst>
          </p:cNvPr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3ACFA1D-15B4-EB4B-7DE1-EDB7F209EF2E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F51A22C-3F08-2BE4-6215-48E3BB1EEDA7}"/>
              </a:ext>
            </a:extLst>
          </p:cNvPr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D97601C-C28C-10B7-1880-F0739538BAF7}"/>
              </a:ext>
            </a:extLst>
          </p:cNvPr>
          <p:cNvCxnSpPr/>
          <p:nvPr/>
        </p:nvCxnSpPr>
        <p:spPr>
          <a:xfrm>
            <a:off x="0" y="863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145FD97-0E55-2FF9-0602-87F7BDC1B766}"/>
              </a:ext>
            </a:extLst>
          </p:cNvPr>
          <p:cNvCxnSpPr/>
          <p:nvPr/>
        </p:nvCxnSpPr>
        <p:spPr>
          <a:xfrm>
            <a:off x="0" y="1676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9149D5B-7729-0C2B-1BDC-66524DF89751}"/>
              </a:ext>
            </a:extLst>
          </p:cNvPr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79DC064-65E7-A782-08D6-6A7B5B10E9AB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1956AAFD-DBDB-412B-0C28-4CE603A47390}"/>
              </a:ext>
            </a:extLst>
          </p:cNvPr>
          <p:cNvCxnSpPr/>
          <p:nvPr/>
        </p:nvCxnSpPr>
        <p:spPr>
          <a:xfrm>
            <a:off x="0" y="41148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9A83AB2-382C-26A5-A57D-6E5F9E12B39F}"/>
              </a:ext>
            </a:extLst>
          </p:cNvPr>
          <p:cNvCxnSpPr/>
          <p:nvPr/>
        </p:nvCxnSpPr>
        <p:spPr>
          <a:xfrm>
            <a:off x="0" y="4927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5E9768E-CD31-00AC-5D65-AEF0E1539FC3}"/>
              </a:ext>
            </a:extLst>
          </p:cNvPr>
          <p:cNvCxnSpPr/>
          <p:nvPr/>
        </p:nvCxnSpPr>
        <p:spPr>
          <a:xfrm>
            <a:off x="0" y="5740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A87B5DC-4B3A-1747-4FCB-37B54FA3A1B2}"/>
              </a:ext>
            </a:extLst>
          </p:cNvPr>
          <p:cNvCxnSpPr/>
          <p:nvPr/>
        </p:nvCxnSpPr>
        <p:spPr>
          <a:xfrm>
            <a:off x="0" y="6553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E7E65A8-D893-2DF7-7948-3180660E999B}"/>
              </a:ext>
            </a:extLst>
          </p:cNvPr>
          <p:cNvCxnSpPr/>
          <p:nvPr/>
        </p:nvCxnSpPr>
        <p:spPr>
          <a:xfrm>
            <a:off x="8890000" y="0"/>
            <a:ext cx="3302000" cy="2032000"/>
          </a:xfrm>
          <a:prstGeom prst="line">
            <a:avLst/>
          </a:prstGeom>
          <a:ln w="12700" cap="flat" cmpd="sng" algn="ctr">
            <a:solidFill>
              <a:srgbClr val="BFFF00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E1FDAF1-E219-275B-0BE2-6BD21E521F2E}"/>
              </a:ext>
            </a:extLst>
          </p:cNvPr>
          <p:cNvCxnSpPr/>
          <p:nvPr/>
        </p:nvCxnSpPr>
        <p:spPr>
          <a:xfrm>
            <a:off x="0" y="5791200"/>
            <a:ext cx="3175000" cy="1066800"/>
          </a:xfrm>
          <a:prstGeom prst="line">
            <a:avLst/>
          </a:prstGeom>
          <a:ln w="12700" cap="flat" cmpd="sng" algn="ctr">
            <a:solidFill>
              <a:srgbClr val="417EFF">
                <a:alpha val="2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C002D7C1-DF4F-360A-E9F0-39E60A5D4C74}"/>
              </a:ext>
            </a:extLst>
          </p:cNvPr>
          <p:cNvSpPr txBox="1"/>
          <p:nvPr/>
        </p:nvSpPr>
        <p:spPr>
          <a:xfrm>
            <a:off x="609600" y="4318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BFFF00"/>
                </a:solidFill>
                <a:latin typeface="Microsoft YaHei" panose="020B0503020204020204" pitchFamily="34" charset="-122"/>
              </a:rPr>
              <a:t>05 / HANDOFF</a:t>
            </a:r>
            <a:endParaRPr lang="zh-CN" altLang="en-US" sz="900" b="1">
              <a:solidFill>
                <a:srgbClr val="BFFF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F45AB79-8229-B08C-8C20-259E6046EBA4}"/>
              </a:ext>
            </a:extLst>
          </p:cNvPr>
          <p:cNvSpPr txBox="1"/>
          <p:nvPr/>
        </p:nvSpPr>
        <p:spPr>
          <a:xfrm>
            <a:off x="609600" y="7874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2900">
                <a:solidFill>
                  <a:srgbClr val="FFFFFF"/>
                </a:solidFill>
                <a:latin typeface="Microsoft YaHei" panose="020B0503020204020204" pitchFamily="34" charset="-122"/>
              </a:rPr>
              <a:t>Explain one release decision in 90 seconds</a:t>
            </a:r>
            <a:endParaRPr lang="zh-CN" altLang="en-US" sz="29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929256E-CE3A-5566-AFC8-B6FEA7A80F4B}"/>
              </a:ext>
            </a:extLst>
          </p:cNvPr>
          <p:cNvSpPr txBox="1"/>
          <p:nvPr/>
        </p:nvSpPr>
        <p:spPr>
          <a:xfrm>
            <a:off x="609600" y="14986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1300">
                <a:solidFill>
                  <a:srgbClr val="748FBE"/>
                </a:solidFill>
                <a:latin typeface="Microsoft YaHei" panose="020B0503020204020204" pitchFamily="34" charset="-122"/>
              </a:rPr>
              <a:t>Start with the shipment, follow the evidence, reach release or block.</a:t>
            </a:r>
            <a:endParaRPr lang="zh-CN" altLang="en-US" sz="1300">
              <a:solidFill>
                <a:srgbClr val="748FB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7A9AD7D-A19E-396A-383E-893CEE7252C3}"/>
              </a:ext>
            </a:extLst>
          </p:cNvPr>
          <p:cNvSpPr txBox="1"/>
          <p:nvPr/>
        </p:nvSpPr>
        <p:spPr>
          <a:xfrm>
            <a:off x="609600" y="24892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400">
                <a:solidFill>
                  <a:srgbClr val="BFFF00"/>
                </a:solidFill>
                <a:latin typeface="Consolas" panose="020B0609020204030204" pitchFamily="49" charset="0"/>
              </a:rPr>
              <a:t>192</a:t>
            </a:r>
            <a:endParaRPr lang="zh-CN" altLang="en-US" sz="3400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52B569B-C43E-9E11-EF86-1CB1923C7F5D}"/>
              </a:ext>
            </a:extLst>
          </p:cNvPr>
          <p:cNvSpPr txBox="1"/>
          <p:nvPr/>
        </p:nvSpPr>
        <p:spPr>
          <a:xfrm>
            <a:off x="609600" y="31750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A6B9D8"/>
                </a:solidFill>
                <a:latin typeface="Microsoft YaHei" panose="020B0503020204020204" pitchFamily="34" charset="-122"/>
              </a:rPr>
              <a:t>SELF-TESTS PASSED</a:t>
            </a:r>
            <a:endParaRPr lang="zh-CN" altLang="en-US" sz="900" b="1">
              <a:solidFill>
                <a:srgbClr val="A6B9D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7BAA24E-83C9-8A61-AEBD-2B9F85D7CC5A}"/>
              </a:ext>
            </a:extLst>
          </p:cNvPr>
          <p:cNvSpPr txBox="1"/>
          <p:nvPr/>
        </p:nvSpPr>
        <p:spPr>
          <a:xfrm>
            <a:off x="3276600" y="2489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400">
                <a:solidFill>
                  <a:srgbClr val="FFFFFF"/>
                </a:solidFill>
                <a:latin typeface="Consolas" panose="020B0609020204030204" pitchFamily="49" charset="0"/>
              </a:rPr>
              <a:t>7</a:t>
            </a:r>
            <a:endParaRPr lang="zh-CN" altLang="en-US" sz="34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BB41A3B-0F04-153B-624A-F4550A8E4FE8}"/>
              </a:ext>
            </a:extLst>
          </p:cNvPr>
          <p:cNvSpPr txBox="1"/>
          <p:nvPr/>
        </p:nvSpPr>
        <p:spPr>
          <a:xfrm>
            <a:off x="3276600" y="31750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A6B9D8"/>
                </a:solidFill>
                <a:latin typeface="Microsoft YaHei" panose="020B0503020204020204" pitchFamily="34" charset="-122"/>
              </a:rPr>
              <a:t>SKILLS REGISTERED</a:t>
            </a:r>
            <a:endParaRPr lang="zh-CN" altLang="en-US" sz="900" b="1">
              <a:solidFill>
                <a:srgbClr val="A6B9D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1E3AB03-A2EA-BCB2-980F-664E936E4886}"/>
              </a:ext>
            </a:extLst>
          </p:cNvPr>
          <p:cNvSpPr txBox="1"/>
          <p:nvPr/>
        </p:nvSpPr>
        <p:spPr>
          <a:xfrm>
            <a:off x="5816600" y="24892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400">
                <a:solidFill>
                  <a:srgbClr val="FF7C1C"/>
                </a:solidFill>
                <a:latin typeface="Consolas" panose="020B0609020204030204" pitchFamily="49" charset="0"/>
              </a:rPr>
              <a:t>6</a:t>
            </a:r>
            <a:endParaRPr lang="zh-CN" altLang="en-US" sz="3400">
              <a:solidFill>
                <a:srgbClr val="FF7C1C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930EB15-BC8F-EE0B-3709-4E23F7C05249}"/>
              </a:ext>
            </a:extLst>
          </p:cNvPr>
          <p:cNvSpPr txBox="1"/>
          <p:nvPr/>
        </p:nvSpPr>
        <p:spPr>
          <a:xfrm>
            <a:off x="5816600" y="31750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A6B9D8"/>
                </a:solidFill>
                <a:latin typeface="Microsoft YaHei" panose="020B0503020204020204" pitchFamily="34" charset="-122"/>
              </a:rPr>
              <a:t>RED-TEAM BLOCKS</a:t>
            </a:r>
            <a:endParaRPr lang="zh-CN" altLang="en-US" sz="900" b="1">
              <a:solidFill>
                <a:srgbClr val="A6B9D8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2CCA5B53-FF3E-F630-FAA3-1AB1A4669CCB}"/>
              </a:ext>
            </a:extLst>
          </p:cNvPr>
          <p:cNvCxnSpPr/>
          <p:nvPr/>
        </p:nvCxnSpPr>
        <p:spPr>
          <a:xfrm>
            <a:off x="609600" y="3987800"/>
            <a:ext cx="71374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2CB03179-98CB-B8FF-D1CF-CCB045EB7F02}"/>
              </a:ext>
            </a:extLst>
          </p:cNvPr>
          <p:cNvSpPr txBox="1"/>
          <p:nvPr/>
        </p:nvSpPr>
        <p:spPr>
          <a:xfrm>
            <a:off x="609600" y="42672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BFFF00"/>
                </a:solidFill>
                <a:latin typeface="Microsoft YaHei" panose="020B0503020204020204" pitchFamily="34" charset="-122"/>
              </a:rPr>
              <a:t>RUN</a:t>
            </a:r>
            <a:endParaRPr lang="zh-CN" altLang="en-US" sz="900" b="1">
              <a:solidFill>
                <a:srgbClr val="BFFF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AB3BD80-A304-3459-370D-AFB1B2226457}"/>
              </a:ext>
            </a:extLst>
          </p:cNvPr>
          <p:cNvSpPr txBox="1"/>
          <p:nvPr/>
        </p:nvSpPr>
        <p:spPr>
          <a:xfrm>
            <a:off x="609600" y="4597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FFFFFF"/>
                </a:solidFill>
                <a:latin typeface="Consolas" panose="020B0609020204030204" pitchFamily="49" charset="0"/>
              </a:rPr>
              <a:t>npm run demo</a:t>
            </a:r>
            <a:endParaRPr lang="zh-CN" altLang="en-US" sz="16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0C53EA1-B358-E80C-C453-94DF58FC3818}"/>
              </a:ext>
            </a:extLst>
          </p:cNvPr>
          <p:cNvSpPr txBox="1"/>
          <p:nvPr/>
        </p:nvSpPr>
        <p:spPr>
          <a:xfrm>
            <a:off x="3810000" y="4597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FFFFFF"/>
                </a:solidFill>
                <a:latin typeface="Consolas" panose="020B0609020204030204" pitchFamily="49" charset="0"/>
              </a:rPr>
              <a:t>npm run demo:live</a:t>
            </a:r>
            <a:endParaRPr lang="zh-CN" altLang="en-US" sz="16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9905CC6-11DE-12EF-7A19-C4D0B969E3E4}"/>
              </a:ext>
            </a:extLst>
          </p:cNvPr>
          <p:cNvSpPr txBox="1"/>
          <p:nvPr/>
        </p:nvSpPr>
        <p:spPr>
          <a:xfrm>
            <a:off x="609600" y="50800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FFFFFF"/>
                </a:solidFill>
                <a:latin typeface="Consolas" panose="020B0609020204030204" pitchFamily="49" charset="0"/>
              </a:rPr>
              <a:t>npm run acceptance</a:t>
            </a:r>
            <a:endParaRPr lang="zh-CN" altLang="en-US" sz="16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18DEB8A-7836-E28F-CE51-CE7587CBD898}"/>
              </a:ext>
            </a:extLst>
          </p:cNvPr>
          <p:cNvSpPr txBox="1"/>
          <p:nvPr/>
        </p:nvSpPr>
        <p:spPr>
          <a:xfrm>
            <a:off x="4699000" y="50800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FFFFFF"/>
                </a:solidFill>
                <a:latin typeface="Consolas" panose="020B0609020204030204" pitchFamily="49" charset="0"/>
              </a:rPr>
              <a:t>npm test</a:t>
            </a:r>
            <a:endParaRPr lang="zh-CN" altLang="en-US" sz="16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C65BD6D-3517-006B-C93B-F7DB61316199}"/>
              </a:ext>
            </a:extLst>
          </p:cNvPr>
          <p:cNvSpPr/>
          <p:nvPr/>
        </p:nvSpPr>
        <p:spPr>
          <a:xfrm>
            <a:off x="8432800" y="2184400"/>
            <a:ext cx="3149600" cy="3251200"/>
          </a:xfrm>
          <a:prstGeom prst="rect">
            <a:avLst/>
          </a:prstGeom>
          <a:solidFill>
            <a:srgbClr val="417EFF"/>
          </a:solidFill>
          <a:ln w="12700">
            <a:solidFill>
              <a:srgbClr val="417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0778F7B-C868-EC63-AC14-9CDCC0C11909}"/>
              </a:ext>
            </a:extLst>
          </p:cNvPr>
          <p:cNvSpPr txBox="1"/>
          <p:nvPr/>
        </p:nvSpPr>
        <p:spPr>
          <a:xfrm>
            <a:off x="8763000" y="25146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BFFF00"/>
                </a:solidFill>
                <a:latin typeface="Microsoft YaHei" panose="020B0503020204020204" pitchFamily="34" charset="-122"/>
              </a:rPr>
              <a:t>VERIFIED</a:t>
            </a:r>
            <a:endParaRPr lang="zh-CN" altLang="en-US" sz="1000" b="1">
              <a:solidFill>
                <a:srgbClr val="BFFF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41450F4-A3B9-CDCE-B42F-E6E3CCCE062D}"/>
              </a:ext>
            </a:extLst>
          </p:cNvPr>
          <p:cNvSpPr txBox="1"/>
          <p:nvPr/>
        </p:nvSpPr>
        <p:spPr>
          <a:xfrm>
            <a:off x="8763000" y="29464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Local package</a:t>
            </a:r>
          </a:p>
          <a:p>
            <a:r>
              <a:rPr lang="en-NZ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Main pipeline</a:t>
            </a:r>
          </a:p>
          <a:p>
            <a:r>
              <a:rPr lang="en-NZ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Red-team gates</a:t>
            </a:r>
          </a:p>
          <a:p>
            <a:r>
              <a:rPr lang="en-NZ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Runtime dashboard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AD0D2300-B6ED-93FB-C02F-5F45E721B53D}"/>
              </a:ext>
            </a:extLst>
          </p:cNvPr>
          <p:cNvCxnSpPr/>
          <p:nvPr/>
        </p:nvCxnSpPr>
        <p:spPr>
          <a:xfrm>
            <a:off x="8763000" y="4419600"/>
            <a:ext cx="24384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236837DF-7BE8-AD71-FC96-3E66B9A86ABD}"/>
              </a:ext>
            </a:extLst>
          </p:cNvPr>
          <p:cNvSpPr txBox="1"/>
          <p:nvPr/>
        </p:nvSpPr>
        <p:spPr>
          <a:xfrm>
            <a:off x="8763000" y="46990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OUT OF SCOPE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75C8619-CCCF-F668-CC17-ADCD0EBDD1F2}"/>
              </a:ext>
            </a:extLst>
          </p:cNvPr>
          <p:cNvSpPr txBox="1"/>
          <p:nvPr/>
        </p:nvSpPr>
        <p:spPr>
          <a:xfrm>
            <a:off x="8763000" y="50292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1100">
                <a:solidFill>
                  <a:srgbClr val="FFFFFF"/>
                </a:solidFill>
                <a:latin typeface="Microsoft YaHei" panose="020B0503020204020204" pitchFamily="34" charset="-122"/>
              </a:rPr>
              <a:t>WorkHub / Wesome publication</a:t>
            </a:r>
          </a:p>
          <a:p>
            <a:r>
              <a:rPr lang="en-NZ" altLang="zh-CN" sz="1100">
                <a:solidFill>
                  <a:srgbClr val="FFFFFF"/>
                </a:solidFill>
                <a:latin typeface="Microsoft YaHei" panose="020B0503020204020204" pitchFamily="34" charset="-122"/>
              </a:rPr>
              <a:t>Real shipment execution</a:t>
            </a:r>
            <a:endParaRPr lang="zh-CN" altLang="en-US" sz="11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E3DADED-631D-2437-281B-498AF375889C}"/>
              </a:ext>
            </a:extLst>
          </p:cNvPr>
          <p:cNvSpPr txBox="1"/>
          <p:nvPr/>
        </p:nvSpPr>
        <p:spPr>
          <a:xfrm>
            <a:off x="609600" y="60452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748FBE"/>
                </a:solidFill>
                <a:latin typeface="Microsoft YaHei" panose="020B0503020204020204" pitchFamily="34" charset="-122"/>
              </a:rPr>
              <a:t>Local demo evidence only / no external submission performed</a:t>
            </a:r>
            <a:endParaRPr lang="zh-CN" altLang="en-US" sz="900">
              <a:solidFill>
                <a:srgbClr val="748FB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429AA0B-4589-2DF5-D4EE-BA2BCE055821}"/>
              </a:ext>
            </a:extLst>
          </p:cNvPr>
          <p:cNvSpPr txBox="1"/>
          <p:nvPr/>
        </p:nvSpPr>
        <p:spPr>
          <a:xfrm>
            <a:off x="11049000" y="60452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BFFF00"/>
                </a:solidFill>
                <a:latin typeface="Consolas" panose="020B0609020204030204" pitchFamily="49" charset="0"/>
              </a:rPr>
              <a:t>06</a:t>
            </a:r>
            <a:endParaRPr lang="zh-CN" altLang="en-US" sz="1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459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</Words>
  <Application>Microsoft Office PowerPoint</Application>
  <PresentationFormat>自定义</PresentationFormat>
  <Paragraphs>114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Microsoft YaHei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Weilai Wang</dc:creator>
  <cp:lastModifiedBy>Weilai Wang</cp:lastModifiedBy>
  <cp:revision>1</cp:revision>
  <dcterms:created xsi:type="dcterms:W3CDTF">2026-09-18T20:26:06Z</dcterms:created>
  <dcterms:modified xsi:type="dcterms:W3CDTF">2026-09-18T20:26:06Z</dcterms:modified>
</cp:coreProperties>
</file>