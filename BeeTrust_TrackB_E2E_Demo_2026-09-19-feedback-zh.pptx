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6F5E72-8964-63F3-C9B7-4FC9B93AC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B5C1BD-8AC1-395E-7C15-9A8A8625B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6268C7-77A5-E873-75A6-4DDE34CF8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0881-DBA4-45EB-B90B-001DA716766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458D18-C36F-4467-C1B0-E9A52ED56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B923F6-B7CE-A5DF-DA97-10D73C629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C37E-BE8A-45F3-A90D-56B81A0F1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8320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64218B-0D1F-BA3D-C987-B1119EA5C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615540-6ECD-E2F5-DDAA-0B2A8C7F9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A52B40-8EC6-18EB-81DE-FD447E765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0881-DBA4-45EB-B90B-001DA716766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B85DF3-1313-AD16-AC93-929430D71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CF7A39-2CEB-5673-3B70-C2B8570C3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C37E-BE8A-45F3-A90D-56B81A0F1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34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357AC-E7F4-1DF9-EF68-FFFADFF4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ED15B3-3493-B644-74BF-2B7ABF0E3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9757EE-5FA0-B550-7118-2C8F199EA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0881-DBA4-45EB-B90B-001DA716766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4881B7-12E4-8185-CD34-52F4F0ADB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15B86B-5741-AD96-1225-1680BA736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C37E-BE8A-45F3-A90D-56B81A0F1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750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53FB07-703F-463A-BFB1-06F811F5E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568B3C-8599-8174-20B1-B2F0E4CA7B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66B571-1287-5B3D-D925-F7BD0AD0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C3A92B-812C-2279-BE12-A37F54DDA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0881-DBA4-45EB-B90B-001DA716766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803EB3-CACD-A131-CF0B-8A52E3C5B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DAFA77-353F-017A-DFD5-0AAA27CB1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C37E-BE8A-45F3-A90D-56B81A0F1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2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1A315E-1E71-7BE7-5199-E1612F39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640EF1-6618-9CB8-7EE9-EECB17C0F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4E58CB-4A9A-0575-5DD6-871F7082C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EDB7FA2-3D07-E26C-0CEC-23C2C9DE88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E246F71-2CC0-693A-8E1B-41C34A1357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5400010-E192-4440-3007-E11310194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0881-DBA4-45EB-B90B-001DA716766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049F743-357B-AC8E-5E36-1221098A0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62E0FCF-4539-5689-6A88-74137748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C37E-BE8A-45F3-A90D-56B81A0F1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542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EC878C-39D7-0B1B-CDE7-5EE1779E3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EA975BB-36A6-BBD1-F5A3-27271E028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0881-DBA4-45EB-B90B-001DA716766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2A5E376-1832-C02B-7FB9-72D2423EB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757AB9-BBB9-4C44-3454-F9DDAC1B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C37E-BE8A-45F3-A90D-56B81A0F1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879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FD87F7-84C4-33AA-26E2-A1408C4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0881-DBA4-45EB-B90B-001DA716766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E1F186A-F0DD-7D90-1767-31A78D39D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242B74-B5B2-938B-FA63-93418831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C37E-BE8A-45F3-A90D-56B81A0F1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475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4D97E-5870-69E1-8CA1-4AC2E4CDE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814626-D3D1-9363-2B6D-7CC9F5951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4CFF9C-5C9E-BB58-1CC7-D7A5E1698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958D1E-99CE-3861-809D-631AB76F2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0881-DBA4-45EB-B90B-001DA716766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0F32C3-46F5-A194-E4A2-86902E9EE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72AC13-C511-1B9B-9CF2-29268B1BA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C37E-BE8A-45F3-A90D-56B81A0F1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561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DD046-8A53-F9FE-7091-06E35F7A5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9CADFF6-8D83-50E3-5603-6CC92414EA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6FB3AD-6620-3FD8-5882-1DAC4A4B8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B37C09-A88A-2E3E-CCA8-D467934E9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0881-DBA4-45EB-B90B-001DA716766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8AABAA-FFF5-BD0D-0279-404E9FB85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46C26C-9174-FA97-1275-0DC714DF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C37E-BE8A-45F3-A90D-56B81A0F1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405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287DA-01D8-3469-EADF-0FEF1F2EE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E69302-663E-E834-BF9A-105FD330F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CED75E-4E65-C0E9-6226-8F6A09798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0881-DBA4-45EB-B90B-001DA716766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0AA097-6DBD-957F-4429-6F17BBDEC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837038-87C7-5358-20DF-26D3E85F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C37E-BE8A-45F3-A90D-56B81A0F1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894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8D050AE-4EA4-C26B-DBA7-5CCC765B16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31500B-A543-ED33-8D13-E7999B554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D21BC3-866D-DF7D-E323-38F6D3E68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0881-DBA4-45EB-B90B-001DA716766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983D00-88D5-67FC-CEF4-54A9E4B63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A81163-07E5-0F62-347F-144EC3C34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C37E-BE8A-45F3-A90D-56B81A0F1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559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A78C1E-EB05-6462-6B96-443D5049C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521EB3-5250-0475-DABE-9F7408C0F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C18A22-176F-906B-7BE0-DA16E541F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420881-DBA4-45EB-B90B-001DA716766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3B78B7-0CAA-20E1-1ADF-7041D6168B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34D680-2AC6-3EF8-B0B2-BBBA791D4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A9C37E-BE8A-45F3-A90D-56B81A0F1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37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BFABBA1A-0552-95AF-A749-6915857A2EE7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6A7F21F-66C3-05DF-70D2-8BF5D254DFB9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182F832-E377-098F-2F2F-CF300D95178F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5D2E59-0531-24ED-2789-8D7C9FEDC80E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74526CA-BB0F-D1C5-051A-11B5117417DC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6E0DEBF-F287-AABF-E879-0EDFD602C5E4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9F407FF-3C39-0E43-F26F-3F4671A2B8D7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2C454EA-2FDA-B217-460E-DBE9700A7496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49DF0ED-2B20-A6F1-A126-86EC507CAB01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75DE027-E2B6-AC60-78DB-81E98A6D8128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990899D-4854-8F26-CAFF-7848FF8DEF98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B4043E4-D396-3DEB-811B-FD75D2F80EEC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D1EDC4E-672A-9C12-877D-4A6FBAFF6D74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D24B293-B5E2-FC4A-104E-8B6F19178FBF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F074F9E-9D5C-F6D5-843E-81C19804A200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CE04A27-1FF0-1F60-D4A1-B7E7F1EDADE2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0565D64-7F3C-FF1C-73EF-5524A8E8CE8A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6702804-7AAA-F1B4-0994-96B7C1631331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E1DD548-9444-4BDB-9A60-02738085C901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96CD66A-812B-D6B8-A67C-CC3350A1DD24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68D4368-8685-6B31-458A-00378FCE8B98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23D358E-AF96-3E6E-810B-AA123732507A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167B260-04B5-ABD8-2F4F-F72495BF6C72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DC0FC87A-A4F1-BA02-AFC7-8B4FA5589BB3}"/>
              </a:ext>
            </a:extLst>
          </p:cNvPr>
          <p:cNvSpPr/>
          <p:nvPr/>
        </p:nvSpPr>
        <p:spPr>
          <a:xfrm>
            <a:off x="609600" y="558800"/>
            <a:ext cx="101600" cy="1600200"/>
          </a:xfrm>
          <a:prstGeom prst="rect">
            <a:avLst/>
          </a:prstGeom>
          <a:solidFill>
            <a:srgbClr val="BFFF00"/>
          </a:solidFill>
          <a:ln w="12700">
            <a:solidFill>
              <a:srgbClr val="B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540BDF8-0550-CAE2-69E5-3056D108BC7A}"/>
              </a:ext>
            </a:extLst>
          </p:cNvPr>
          <p:cNvSpPr txBox="1"/>
          <p:nvPr/>
        </p:nvSpPr>
        <p:spPr>
          <a:xfrm>
            <a:off x="1041400" y="6350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BFFF00"/>
                </a:solidFill>
                <a:latin typeface="Microsoft YaHei" panose="020B0503020204020204" pitchFamily="34" charset="-122"/>
              </a:rPr>
              <a:t>BEETRUST / TRACK B / SP-A</a:t>
            </a:r>
            <a:endParaRPr lang="zh-CN" altLang="en-US" sz="1000" b="1">
              <a:solidFill>
                <a:srgbClr val="BFFF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AFB1D69-11C4-AE56-70B5-250FC93BA287}"/>
              </a:ext>
            </a:extLst>
          </p:cNvPr>
          <p:cNvSpPr txBox="1"/>
          <p:nvPr/>
        </p:nvSpPr>
        <p:spPr>
          <a:xfrm>
            <a:off x="1041400" y="144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4200">
                <a:solidFill>
                  <a:srgbClr val="FFFFFF"/>
                </a:solidFill>
                <a:latin typeface="Microsoft YaHei" panose="020B0503020204020204" pitchFamily="34" charset="-122"/>
              </a:rPr>
              <a:t>这批货，能出库吗？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B5A741D-A5A3-E9C7-C0B2-AC71FA6D67B8}"/>
              </a:ext>
            </a:extLst>
          </p:cNvPr>
          <p:cNvSpPr txBox="1"/>
          <p:nvPr/>
        </p:nvSpPr>
        <p:spPr>
          <a:xfrm>
            <a:off x="1041400" y="22098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4200">
                <a:solidFill>
                  <a:srgbClr val="FFFFFF"/>
                </a:solidFill>
                <a:latin typeface="Microsoft YaHei" panose="020B0503020204020204" pitchFamily="34" charset="-122"/>
              </a:rPr>
              <a:t>证据核验，决定放行。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0072209-65DA-5AC0-72C8-D064F9D0FA7F}"/>
              </a:ext>
            </a:extLst>
          </p:cNvPr>
          <p:cNvSpPr txBox="1"/>
          <p:nvPr/>
        </p:nvSpPr>
        <p:spPr>
          <a:xfrm>
            <a:off x="1066800" y="36068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748FBE"/>
                </a:solidFill>
                <a:latin typeface="Microsoft YaHei" panose="020B0503020204020204" pitchFamily="34" charset="-122"/>
              </a:rPr>
              <a:t>1,000 </a:t>
            </a:r>
            <a:r>
              <a:rPr lang="zh-CN" altLang="en-US" sz="1600">
                <a:solidFill>
                  <a:srgbClr val="748FBE"/>
                </a:solidFill>
                <a:latin typeface="Microsoft YaHei" panose="020B0503020204020204" pitchFamily="34" charset="-122"/>
              </a:rPr>
              <a:t>罐新西兰麦卢卡蜂蜜，从新西兰出口到澳大利亚。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D60C43C-02C7-F435-E8EE-369B6EBF5C65}"/>
              </a:ext>
            </a:extLst>
          </p:cNvPr>
          <p:cNvSpPr/>
          <p:nvPr/>
        </p:nvSpPr>
        <p:spPr>
          <a:xfrm>
            <a:off x="8737600" y="1346200"/>
            <a:ext cx="2844800" cy="2768600"/>
          </a:xfrm>
          <a:prstGeom prst="rect">
            <a:avLst/>
          </a:prstGeom>
          <a:solidFill>
            <a:srgbClr val="417EFF"/>
          </a:solidFill>
          <a:ln w="12700">
            <a:solidFill>
              <a:srgbClr val="417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D7F8B79-D7B7-478E-3E56-22419308372E}"/>
              </a:ext>
            </a:extLst>
          </p:cNvPr>
          <p:cNvSpPr txBox="1"/>
          <p:nvPr/>
        </p:nvSpPr>
        <p:spPr>
          <a:xfrm>
            <a:off x="9093200" y="17526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100" b="1">
                <a:solidFill>
                  <a:srgbClr val="FFFFFF"/>
                </a:solidFill>
                <a:latin typeface="Microsoft YaHei" panose="020B0503020204020204" pitchFamily="34" charset="-122"/>
              </a:rPr>
              <a:t>放行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9198A30-8761-A375-CB41-2F1AFF564D75}"/>
              </a:ext>
            </a:extLst>
          </p:cNvPr>
          <p:cNvSpPr txBox="1"/>
          <p:nvPr/>
        </p:nvSpPr>
        <p:spPr>
          <a:xfrm>
            <a:off x="9017000" y="22606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6600">
                <a:solidFill>
                  <a:srgbClr val="FFFFFF"/>
                </a:solidFill>
                <a:latin typeface="Consolas" panose="020B0609020204030204" pitchFamily="49" charset="0"/>
              </a:rPr>
              <a:t>100</a:t>
            </a:r>
            <a:endParaRPr lang="zh-CN" altLang="en-US" sz="66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A9541A0-783F-6B9C-04DF-707D4725D18B}"/>
              </a:ext>
            </a:extLst>
          </p:cNvPr>
          <p:cNvSpPr txBox="1"/>
          <p:nvPr/>
        </p:nvSpPr>
        <p:spPr>
          <a:xfrm>
            <a:off x="10388600" y="2997200"/>
            <a:ext cx="81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000" b="1">
                <a:solidFill>
                  <a:srgbClr val="BFFF00"/>
                </a:solidFill>
                <a:latin typeface="Consolas" panose="020B0609020204030204" pitchFamily="49" charset="0"/>
              </a:rPr>
              <a:t>/100</a:t>
            </a:r>
            <a:endParaRPr lang="zh-CN" altLang="en-US" sz="2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C84563D-B046-19E8-1282-95CA3B11C6B9}"/>
              </a:ext>
            </a:extLst>
          </p:cNvPr>
          <p:cNvSpPr txBox="1"/>
          <p:nvPr/>
        </p:nvSpPr>
        <p:spPr>
          <a:xfrm>
            <a:off x="9093200" y="35814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本地运行时证据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6513964-E73B-291C-BF5E-9656B741BCE7}"/>
              </a:ext>
            </a:extLst>
          </p:cNvPr>
          <p:cNvSpPr txBox="1"/>
          <p:nvPr/>
        </p:nvSpPr>
        <p:spPr>
          <a:xfrm>
            <a:off x="1066800" y="5765800"/>
            <a:ext cx="558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>
                <a:solidFill>
                  <a:srgbClr val="748FBE"/>
                </a:solidFill>
                <a:latin typeface="Microsoft YaHei" panose="020B0503020204020204" pitchFamily="34" charset="-122"/>
              </a:rPr>
              <a:t>合成案例 </a:t>
            </a:r>
            <a:r>
              <a:rPr lang="en-US" altLang="zh-CN" sz="900">
                <a:solidFill>
                  <a:srgbClr val="748FB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748FBE"/>
                </a:solidFill>
                <a:latin typeface="Microsoft YaHei" panose="020B0503020204020204" pitchFamily="34" charset="-122"/>
              </a:rPr>
              <a:t>未进行外部提交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DC3B326-7090-532F-5312-B26678163BB4}"/>
              </a:ext>
            </a:extLst>
          </p:cNvPr>
          <p:cNvSpPr txBox="1"/>
          <p:nvPr/>
        </p:nvSpPr>
        <p:spPr>
          <a:xfrm>
            <a:off x="11049000" y="5765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BFFF00"/>
                </a:solidFill>
                <a:latin typeface="Consolas" panose="020B0609020204030204" pitchFamily="49" charset="0"/>
              </a:rPr>
              <a:t>01</a:t>
            </a:r>
            <a:endParaRPr lang="zh-CN" altLang="en-US" sz="1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640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C53155BC-7E1E-937C-008D-124A64637E22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5B49748-44BE-E41E-F856-9A57B0103448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EDEC02C-AA7C-77B0-7F04-9C62BC986B2E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DE3A4BC-8ECC-D227-6C8D-2925FC14E75E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2841F79-0DA9-460E-D230-C5A01625242C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AF5C54E-525A-CFDF-0894-82CB53D89D9A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BC479AA-505F-98DE-4543-069DFCC3240B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36A9CD2-46BD-EAB1-0EA3-C38A22B7E798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77C9B75-212C-207C-F116-8B144148031F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E5B9CE0-DA96-DC4E-20A1-A23FC7B3F937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083B210-B130-AF15-56F3-20EF0A374E31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7A295BD-9FFE-C853-EB0F-5E5E7EE1445C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A313743-F5C4-F182-D416-7C06E49F8E6D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2E972D1-C778-4C8A-BCFA-2A6F128F34CC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6A12661-4C15-E735-319A-A39E04DBF7B4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1A1B95D-529C-0E31-8055-B6DCE27F46D8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A4CAFF6-9D8A-4C17-2331-3BC16CA592FC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CBCEDD4-078F-1604-9654-FADF9BB39D05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A61DADC-7AE6-69CA-286B-1BB8CFFB689D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6CD6164-5BE4-86D0-E3F2-DAC608EA7E35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CDE0BB8-6F73-1985-AF93-1169C8FBF521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FCFBCDB-A0AC-2DE3-49BE-8682245FF3C7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6C1DAB0-38DE-5944-618E-D0C16E8BB5B2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738FC5C1-3EB0-EED0-E926-249A03DB3DB5}"/>
              </a:ext>
            </a:extLst>
          </p:cNvPr>
          <p:cNvSpPr txBox="1"/>
          <p:nvPr/>
        </p:nvSpPr>
        <p:spPr>
          <a:xfrm>
            <a:off x="609600" y="406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417EFF"/>
                </a:solidFill>
                <a:latin typeface="Microsoft YaHei" panose="020B0503020204020204" pitchFamily="34" charset="-122"/>
              </a:rPr>
              <a:t>01 / </a:t>
            </a:r>
            <a:r>
              <a:rPr lang="zh-CN" altLang="en-US" sz="900" b="1">
                <a:solidFill>
                  <a:srgbClr val="417EFF"/>
                </a:solidFill>
                <a:latin typeface="Microsoft YaHei" panose="020B0503020204020204" pitchFamily="34" charset="-122"/>
              </a:rPr>
              <a:t>案例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A5CF07E-9931-BF17-B5A5-F4C525499A3C}"/>
              </a:ext>
            </a:extLst>
          </p:cNvPr>
          <p:cNvSpPr txBox="1"/>
          <p:nvPr/>
        </p:nvSpPr>
        <p:spPr>
          <a:xfrm>
            <a:off x="609600" y="1219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4000">
                <a:solidFill>
                  <a:srgbClr val="F4F8FF"/>
                </a:solidFill>
                <a:latin typeface="Microsoft YaHei" panose="020B0503020204020204" pitchFamily="34" charset="-122"/>
              </a:rPr>
              <a:t>一个具体问题。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C279A76-3F65-39D3-E68D-99CFF26CF4C6}"/>
              </a:ext>
            </a:extLst>
          </p:cNvPr>
          <p:cNvSpPr txBox="1"/>
          <p:nvPr/>
        </p:nvSpPr>
        <p:spPr>
          <a:xfrm>
            <a:off x="609600" y="19558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4000">
                <a:solidFill>
                  <a:srgbClr val="F4F8FF"/>
                </a:solidFill>
                <a:latin typeface="Microsoft YaHei" panose="020B0503020204020204" pitchFamily="34" charset="-122"/>
              </a:rPr>
              <a:t>五项可核验。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148F1B2-12E7-2B40-E6E9-BF0B15882C04}"/>
              </a:ext>
            </a:extLst>
          </p:cNvPr>
          <p:cNvSpPr txBox="1"/>
          <p:nvPr/>
        </p:nvSpPr>
        <p:spPr>
          <a:xfrm>
            <a:off x="609600" y="26924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4000">
                <a:solidFill>
                  <a:srgbClr val="417EFF"/>
                </a:solidFill>
                <a:latin typeface="Microsoft YaHei" panose="020B0503020204020204" pitchFamily="34" charset="-122"/>
              </a:rPr>
              <a:t>一次可审计放行。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223675B-EB19-1951-857E-63F9D0E64601}"/>
              </a:ext>
            </a:extLst>
          </p:cNvPr>
          <p:cNvCxnSpPr/>
          <p:nvPr/>
        </p:nvCxnSpPr>
        <p:spPr>
          <a:xfrm>
            <a:off x="609600" y="3886200"/>
            <a:ext cx="5740400" cy="0"/>
          </a:xfrm>
          <a:prstGeom prst="line">
            <a:avLst/>
          </a:prstGeom>
          <a:ln w="17780">
            <a:solidFill>
              <a:srgbClr val="F4F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A5ECCEF5-556B-A3B7-D142-AF06AD130786}"/>
              </a:ext>
            </a:extLst>
          </p:cNvPr>
          <p:cNvSpPr txBox="1"/>
          <p:nvPr/>
        </p:nvSpPr>
        <p:spPr>
          <a:xfrm>
            <a:off x="609600" y="41656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 b="1">
                <a:solidFill>
                  <a:srgbClr val="A6B9D8"/>
                </a:solidFill>
                <a:latin typeface="Microsoft YaHei" panose="020B0503020204020204" pitchFamily="34" charset="-122"/>
              </a:rPr>
              <a:t>合成案例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9B972C2-1ADF-94D3-842C-B2692338075A}"/>
              </a:ext>
            </a:extLst>
          </p:cNvPr>
          <p:cNvSpPr txBox="1"/>
          <p:nvPr/>
        </p:nvSpPr>
        <p:spPr>
          <a:xfrm>
            <a:off x="609600" y="44704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F4F8FF"/>
                </a:solidFill>
                <a:latin typeface="Microsoft YaHei" panose="020B0503020204020204" pitchFamily="34" charset="-122"/>
              </a:rPr>
              <a:t>1,000 </a:t>
            </a:r>
            <a:r>
              <a:rPr lang="zh-CN" altLang="en-US" sz="1700" b="1">
                <a:solidFill>
                  <a:srgbClr val="F4F8FF"/>
                </a:solidFill>
                <a:latin typeface="Microsoft YaHei" panose="020B0503020204020204" pitchFamily="34" charset="-122"/>
              </a:rPr>
              <a:t>罐新西兰麦卢卡蜂蜜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A5B7A8F-665E-79FA-D920-6CE207095220}"/>
              </a:ext>
            </a:extLst>
          </p:cNvPr>
          <p:cNvSpPr txBox="1"/>
          <p:nvPr/>
        </p:nvSpPr>
        <p:spPr>
          <a:xfrm>
            <a:off x="609600" y="4876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A6B9D8"/>
                </a:solidFill>
                <a:latin typeface="Microsoft YaHei" panose="020B0503020204020204" pitchFamily="34" charset="-122"/>
              </a:rPr>
              <a:t>目的地：澳大利亚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F9B6042-91B3-4B61-F550-1FF944C0E8B3}"/>
              </a:ext>
            </a:extLst>
          </p:cNvPr>
          <p:cNvSpPr/>
          <p:nvPr/>
        </p:nvSpPr>
        <p:spPr>
          <a:xfrm>
            <a:off x="7493000" y="812800"/>
            <a:ext cx="4089400" cy="4902200"/>
          </a:xfrm>
          <a:prstGeom prst="rect">
            <a:avLst/>
          </a:prstGeom>
          <a:solidFill>
            <a:srgbClr val="050B1E"/>
          </a:solidFill>
          <a:ln w="12700">
            <a:solidFill>
              <a:srgbClr val="050B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6B6B33C-041E-21B3-BEBE-672ECBD6A82B}"/>
              </a:ext>
            </a:extLst>
          </p:cNvPr>
          <p:cNvSpPr txBox="1"/>
          <p:nvPr/>
        </p:nvSpPr>
        <p:spPr>
          <a:xfrm>
            <a:off x="7874000" y="1168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 b="1">
                <a:solidFill>
                  <a:srgbClr val="BFFF00"/>
                </a:solidFill>
                <a:latin typeface="Microsoft YaHei" panose="020B0503020204020204" pitchFamily="34" charset="-122"/>
              </a:rPr>
              <a:t>基线门禁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9D02407-2FE4-D7C2-03C2-A373D41B82F6}"/>
              </a:ext>
            </a:extLst>
          </p:cNvPr>
          <p:cNvCxnSpPr/>
          <p:nvPr/>
        </p:nvCxnSpPr>
        <p:spPr>
          <a:xfrm>
            <a:off x="7874000" y="17272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AD1793A0-9024-E85D-DCA2-227E8DA3DEE6}"/>
              </a:ext>
            </a:extLst>
          </p:cNvPr>
          <p:cNvSpPr txBox="1"/>
          <p:nvPr/>
        </p:nvSpPr>
        <p:spPr>
          <a:xfrm>
            <a:off x="7874000" y="18796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科学指纹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721E2EF-1DEB-5A0B-3166-25C744B7D6FE}"/>
              </a:ext>
            </a:extLst>
          </p:cNvPr>
          <p:cNvSpPr txBox="1"/>
          <p:nvPr/>
        </p:nvSpPr>
        <p:spPr>
          <a:xfrm>
            <a:off x="10515600" y="18796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 b="1">
                <a:solidFill>
                  <a:srgbClr val="BFFF00"/>
                </a:solidFill>
                <a:latin typeface="Microsoft YaHei" panose="020B0503020204020204" pitchFamily="34" charset="-122"/>
              </a:rPr>
              <a:t>通过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F591FF4B-1AED-2517-608A-C270D878EC1B}"/>
              </a:ext>
            </a:extLst>
          </p:cNvPr>
          <p:cNvCxnSpPr/>
          <p:nvPr/>
        </p:nvCxnSpPr>
        <p:spPr>
          <a:xfrm>
            <a:off x="7874000" y="23495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4FD29B8F-2F87-DF12-2A91-6093AE23BD7F}"/>
              </a:ext>
            </a:extLst>
          </p:cNvPr>
          <p:cNvSpPr txBox="1"/>
          <p:nvPr/>
        </p:nvSpPr>
        <p:spPr>
          <a:xfrm>
            <a:off x="7874000" y="25019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保管链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1F2B7CD-DE00-C9F3-0BD3-05255DC18167}"/>
              </a:ext>
            </a:extLst>
          </p:cNvPr>
          <p:cNvSpPr txBox="1"/>
          <p:nvPr/>
        </p:nvSpPr>
        <p:spPr>
          <a:xfrm>
            <a:off x="10515600" y="25019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 b="1">
                <a:solidFill>
                  <a:srgbClr val="BFFF00"/>
                </a:solidFill>
                <a:latin typeface="Microsoft YaHei" panose="020B0503020204020204" pitchFamily="34" charset="-122"/>
              </a:rPr>
              <a:t>通过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DCD681A6-0110-E214-80B5-21B98F575260}"/>
              </a:ext>
            </a:extLst>
          </p:cNvPr>
          <p:cNvCxnSpPr/>
          <p:nvPr/>
        </p:nvCxnSpPr>
        <p:spPr>
          <a:xfrm>
            <a:off x="7874000" y="29718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04341208-A185-7F22-C168-C93FC69A1A70}"/>
              </a:ext>
            </a:extLst>
          </p:cNvPr>
          <p:cNvSpPr txBox="1"/>
          <p:nvPr/>
        </p:nvSpPr>
        <p:spPr>
          <a:xfrm>
            <a:off x="7874000" y="31242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MPI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市场准入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E98515D-6B07-7113-8E05-3F2EE4F4A453}"/>
              </a:ext>
            </a:extLst>
          </p:cNvPr>
          <p:cNvSpPr txBox="1"/>
          <p:nvPr/>
        </p:nvSpPr>
        <p:spPr>
          <a:xfrm>
            <a:off x="10515600" y="31242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 b="1">
                <a:solidFill>
                  <a:srgbClr val="BFFF00"/>
                </a:solidFill>
                <a:latin typeface="Microsoft YaHei" panose="020B0503020204020204" pitchFamily="34" charset="-122"/>
              </a:rPr>
              <a:t>通过</a:t>
            </a: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6684A035-76F6-8130-A991-807E6E2F0989}"/>
              </a:ext>
            </a:extLst>
          </p:cNvPr>
          <p:cNvCxnSpPr/>
          <p:nvPr/>
        </p:nvCxnSpPr>
        <p:spPr>
          <a:xfrm>
            <a:off x="7874000" y="35941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FA03666F-7058-ADC4-3D0F-9790DB14B455}"/>
              </a:ext>
            </a:extLst>
          </p:cNvPr>
          <p:cNvSpPr txBox="1"/>
          <p:nvPr/>
        </p:nvSpPr>
        <p:spPr>
          <a:xfrm>
            <a:off x="7874000" y="37465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海关清关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D9D40A9-92FE-1016-7BE9-980DF3E9383A}"/>
              </a:ext>
            </a:extLst>
          </p:cNvPr>
          <p:cNvSpPr txBox="1"/>
          <p:nvPr/>
        </p:nvSpPr>
        <p:spPr>
          <a:xfrm>
            <a:off x="10515600" y="37465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 b="1">
                <a:solidFill>
                  <a:srgbClr val="BFFF00"/>
                </a:solidFill>
                <a:latin typeface="Microsoft YaHei" panose="020B0503020204020204" pitchFamily="34" charset="-122"/>
              </a:rPr>
              <a:t>通过</a:t>
            </a: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9BADEE1A-6232-9569-55A7-5311C264A7E2}"/>
              </a:ext>
            </a:extLst>
          </p:cNvPr>
          <p:cNvCxnSpPr/>
          <p:nvPr/>
        </p:nvCxnSpPr>
        <p:spPr>
          <a:xfrm>
            <a:off x="7874000" y="42164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85C764C3-B1E7-0F5B-2B56-060571A5780B}"/>
              </a:ext>
            </a:extLst>
          </p:cNvPr>
          <p:cNvSpPr txBox="1"/>
          <p:nvPr/>
        </p:nvSpPr>
        <p:spPr>
          <a:xfrm>
            <a:off x="7874000" y="43688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对抗压力测试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921E814-78CD-22FD-5EB5-D9E8985AD4EA}"/>
              </a:ext>
            </a:extLst>
          </p:cNvPr>
          <p:cNvSpPr txBox="1"/>
          <p:nvPr/>
        </p:nvSpPr>
        <p:spPr>
          <a:xfrm>
            <a:off x="10515600" y="4368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 b="1">
                <a:solidFill>
                  <a:srgbClr val="BFFF00"/>
                </a:solidFill>
                <a:latin typeface="Microsoft YaHei" panose="020B0503020204020204" pitchFamily="34" charset="-122"/>
              </a:rPr>
              <a:t>通过</a:t>
            </a: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943E16EA-F7C1-CA64-CC01-6E31C740164B}"/>
              </a:ext>
            </a:extLst>
          </p:cNvPr>
          <p:cNvCxnSpPr/>
          <p:nvPr/>
        </p:nvCxnSpPr>
        <p:spPr>
          <a:xfrm>
            <a:off x="7874000" y="49530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D1D233B5-11CB-AB98-38D8-4C4CAC5C911F}"/>
              </a:ext>
            </a:extLst>
          </p:cNvPr>
          <p:cNvSpPr txBox="1"/>
          <p:nvPr/>
        </p:nvSpPr>
        <p:spPr>
          <a:xfrm>
            <a:off x="7874000" y="51816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100" b="1">
                <a:solidFill>
                  <a:srgbClr val="FFFFFF"/>
                </a:solidFill>
                <a:latin typeface="Microsoft YaHei" panose="020B0503020204020204" pitchFamily="34" charset="-122"/>
              </a:rPr>
              <a:t>放行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0CA92D8-33FA-5419-A809-72104877CB92}"/>
              </a:ext>
            </a:extLst>
          </p:cNvPr>
          <p:cNvSpPr txBox="1"/>
          <p:nvPr/>
        </p:nvSpPr>
        <p:spPr>
          <a:xfrm>
            <a:off x="9829800" y="5181600"/>
            <a:ext cx="134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700" b="1">
                <a:solidFill>
                  <a:srgbClr val="BFFF00"/>
                </a:solidFill>
                <a:latin typeface="Consolas" panose="020B0609020204030204" pitchFamily="49" charset="0"/>
              </a:rPr>
              <a:t>100 / 100</a:t>
            </a:r>
            <a:endParaRPr lang="zh-CN" altLang="en-US" sz="17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56F96B1D-A51F-E0AA-47C1-F09299CB437B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B20E19C1-D67E-1053-EEC7-016352647425}"/>
              </a:ext>
            </a:extLst>
          </p:cNvPr>
          <p:cNvSpPr txBox="1"/>
          <p:nvPr/>
        </p:nvSpPr>
        <p:spPr>
          <a:xfrm>
            <a:off x="609600" y="65532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BEETRUST / 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本地 </a:t>
            </a:r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E2E / 2026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年</a:t>
            </a:r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9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月</a:t>
            </a:r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18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日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3081C73-9783-1A79-C143-4A4CD80A3D6D}"/>
              </a:ext>
            </a:extLst>
          </p:cNvPr>
          <p:cNvSpPr txBox="1"/>
          <p:nvPr/>
        </p:nvSpPr>
        <p:spPr>
          <a:xfrm>
            <a:off x="11049000" y="6527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 b="1">
                <a:solidFill>
                  <a:srgbClr val="F4F8FF"/>
                </a:solidFill>
                <a:latin typeface="Consolas" panose="020B0609020204030204" pitchFamily="49" charset="0"/>
              </a:rPr>
              <a:t>02</a:t>
            </a:r>
            <a:endParaRPr lang="zh-CN" altLang="en-US" sz="900" b="1">
              <a:solidFill>
                <a:srgbClr val="F4F8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185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2176349B-68A1-ADD8-97DB-73340395A4B7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A88D4B5-3463-3490-AF6E-5C5423F363BD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0EBA463-DD66-3571-53AB-B7C01CFD95C7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F2E1B61-8645-2E43-4D8F-C5467EC0B01F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F16470B-4570-3E28-2C8F-698638F4F772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6713135-CBF4-2F48-697A-01FAEA940411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BF2EB61-D9E3-E0A5-0315-052E8216AD1D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159B7D7-CE8F-9E79-2F25-BB4B10E78E84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4948D2E-6FA2-F1D4-E0BE-E187AB301681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9E475CD-4970-7F63-F878-13B21BB5C1FE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8335940-4DB2-DA6F-ED76-832E64053BE3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8ECFBAD-864A-4F1A-CF59-77A333F24320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4169D42-36AC-F332-CF1B-DA01822F1133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36503AE-D7C9-40B4-F726-DDEB9B61A04D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80A1B3A-D284-96B1-ABE7-26944EC2BB75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7233FF3-056E-5860-0F4A-CDDEE9206678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8CF4D1D-6123-800A-F7B5-89C95F14B202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7C8A461-70A7-4BB9-A587-C78AB9F295F0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34ED6F1-61FD-8669-C3F7-0E7195601429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5587CB3-7955-7976-0518-B0ABE9A70F9A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9688796-7F78-DAE6-65BB-FD720596C080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A14B9DD-6808-68E0-6B48-1F72B4CC08B0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46ADEAC-DF31-2FCF-1527-021E72DC265D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10936E8A-8F53-2507-544D-426EE6162602}"/>
              </a:ext>
            </a:extLst>
          </p:cNvPr>
          <p:cNvSpPr txBox="1"/>
          <p:nvPr/>
        </p:nvSpPr>
        <p:spPr>
          <a:xfrm>
            <a:off x="609600" y="406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417EFF"/>
                </a:solidFill>
                <a:latin typeface="Microsoft YaHei" panose="020B0503020204020204" pitchFamily="34" charset="-122"/>
              </a:rPr>
              <a:t>02 / </a:t>
            </a:r>
            <a:r>
              <a:rPr lang="zh-CN" altLang="en-US" sz="900" b="1">
                <a:solidFill>
                  <a:srgbClr val="417EFF"/>
                </a:solidFill>
                <a:latin typeface="Microsoft YaHei" panose="020B0503020204020204" pitchFamily="34" charset="-122"/>
              </a:rPr>
              <a:t>编排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5D51771-2D87-441C-A46F-6AF99D7B17BC}"/>
              </a:ext>
            </a:extLst>
          </p:cNvPr>
          <p:cNvSpPr txBox="1"/>
          <p:nvPr/>
        </p:nvSpPr>
        <p:spPr>
          <a:xfrm>
            <a:off x="609600" y="685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900">
                <a:solidFill>
                  <a:srgbClr val="F4F8FF"/>
                </a:solidFill>
                <a:latin typeface="Microsoft YaHei" panose="020B0503020204020204" pitchFamily="34" charset="-122"/>
              </a:rPr>
              <a:t>一个放行决策，拆成三步可见动作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C2BAFD8-4482-5DA5-56DB-7A1F4620C890}"/>
              </a:ext>
            </a:extLst>
          </p:cNvPr>
          <p:cNvSpPr txBox="1"/>
          <p:nvPr/>
        </p:nvSpPr>
        <p:spPr>
          <a:xfrm>
            <a:off x="609600" y="14224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A6B9D8"/>
                </a:solidFill>
                <a:latin typeface="Microsoft YaHei" panose="020B0503020204020204" pitchFamily="34" charset="-122"/>
              </a:rPr>
              <a:t>确认批次 → 核验目的地与海关 → 放行或阻断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22F18B1-81BC-5F0E-BBA1-BA6EA8083377}"/>
              </a:ext>
            </a:extLst>
          </p:cNvPr>
          <p:cNvCxnSpPr/>
          <p:nvPr/>
        </p:nvCxnSpPr>
        <p:spPr>
          <a:xfrm>
            <a:off x="2133600" y="3022600"/>
            <a:ext cx="0" cy="66040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7D7D537D-B195-29A0-7D53-940168369B70}"/>
              </a:ext>
            </a:extLst>
          </p:cNvPr>
          <p:cNvCxnSpPr/>
          <p:nvPr/>
        </p:nvCxnSpPr>
        <p:spPr>
          <a:xfrm>
            <a:off x="4241800" y="3022600"/>
            <a:ext cx="0" cy="66040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EA09701-3993-8E2E-8884-EE2332ECFBBF}"/>
              </a:ext>
            </a:extLst>
          </p:cNvPr>
          <p:cNvCxnSpPr/>
          <p:nvPr/>
        </p:nvCxnSpPr>
        <p:spPr>
          <a:xfrm>
            <a:off x="6350000" y="3022600"/>
            <a:ext cx="0" cy="66040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B809AAD-1ADB-C415-99D0-962D70EC8E77}"/>
              </a:ext>
            </a:extLst>
          </p:cNvPr>
          <p:cNvCxnSpPr/>
          <p:nvPr/>
        </p:nvCxnSpPr>
        <p:spPr>
          <a:xfrm>
            <a:off x="2133600" y="4546600"/>
            <a:ext cx="2108200" cy="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0E89390A-6148-8068-2C15-7C33B698DD53}"/>
              </a:ext>
            </a:extLst>
          </p:cNvPr>
          <p:cNvCxnSpPr/>
          <p:nvPr/>
        </p:nvCxnSpPr>
        <p:spPr>
          <a:xfrm>
            <a:off x="6350000" y="4546600"/>
            <a:ext cx="2108200" cy="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BE096104-34B2-42BF-0A69-54AF4A9B81E3}"/>
              </a:ext>
            </a:extLst>
          </p:cNvPr>
          <p:cNvCxnSpPr/>
          <p:nvPr/>
        </p:nvCxnSpPr>
        <p:spPr>
          <a:xfrm>
            <a:off x="4241800" y="5410200"/>
            <a:ext cx="2108200" cy="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C825A658-0CCC-B387-EF42-4DD450189FE6}"/>
              </a:ext>
            </a:extLst>
          </p:cNvPr>
          <p:cNvSpPr/>
          <p:nvPr/>
        </p:nvSpPr>
        <p:spPr>
          <a:xfrm>
            <a:off x="965200" y="21590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28DDC94-FC51-71BF-B4A1-8EEE49121F0D}"/>
              </a:ext>
            </a:extLst>
          </p:cNvPr>
          <p:cNvSpPr/>
          <p:nvPr/>
        </p:nvSpPr>
        <p:spPr>
          <a:xfrm>
            <a:off x="965200" y="2159000"/>
            <a:ext cx="101600" cy="863600"/>
          </a:xfrm>
          <a:prstGeom prst="rect">
            <a:avLst/>
          </a:prstGeom>
          <a:solidFill>
            <a:srgbClr val="417EFF"/>
          </a:solidFill>
          <a:ln w="12700">
            <a:solidFill>
              <a:srgbClr val="417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788D41B-3670-EEDC-489E-C8D6EF90E6FA}"/>
              </a:ext>
            </a:extLst>
          </p:cNvPr>
          <p:cNvSpPr txBox="1"/>
          <p:nvPr/>
        </p:nvSpPr>
        <p:spPr>
          <a:xfrm>
            <a:off x="1244600" y="2286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417EFF"/>
                </a:solidFill>
                <a:latin typeface="Consolas" panose="020B0609020204030204" pitchFamily="49" charset="0"/>
              </a:rPr>
              <a:t>01</a:t>
            </a:r>
            <a:endParaRPr lang="zh-CN" altLang="en-US" sz="1200" b="1">
              <a:solidFill>
                <a:srgbClr val="417EFF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A3359C3-2865-C2B1-06B5-E355444C175D}"/>
              </a:ext>
            </a:extLst>
          </p:cNvPr>
          <p:cNvSpPr txBox="1"/>
          <p:nvPr/>
        </p:nvSpPr>
        <p:spPr>
          <a:xfrm>
            <a:off x="1701800" y="2273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F4F8FF"/>
                </a:solidFill>
                <a:latin typeface="Microsoft YaHei" panose="020B0503020204020204" pitchFamily="34" charset="-122"/>
              </a:rPr>
              <a:t>确认批次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B9BBB4-58BD-1D53-9121-91573B5E3E17}"/>
              </a:ext>
            </a:extLst>
          </p:cNvPr>
          <p:cNvSpPr txBox="1"/>
          <p:nvPr/>
        </p:nvSpPr>
        <p:spPr>
          <a:xfrm>
            <a:off x="1701800" y="2603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>
                <a:solidFill>
                  <a:srgbClr val="A6B9D8"/>
                </a:solidFill>
                <a:latin typeface="Microsoft YaHei" panose="020B0503020204020204" pitchFamily="34" charset="-122"/>
              </a:rPr>
              <a:t>指纹 </a:t>
            </a:r>
            <a:r>
              <a:rPr lang="en-US" altLang="zh-CN" sz="900">
                <a:solidFill>
                  <a:srgbClr val="A6B9D8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900">
                <a:solidFill>
                  <a:srgbClr val="A6B9D8"/>
                </a:solidFill>
                <a:latin typeface="Microsoft YaHei" panose="020B0503020204020204" pitchFamily="34" charset="-122"/>
              </a:rPr>
              <a:t>保管链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4A4552E-3B9F-C753-F6C0-91D4FD79AD79}"/>
              </a:ext>
            </a:extLst>
          </p:cNvPr>
          <p:cNvSpPr/>
          <p:nvPr/>
        </p:nvSpPr>
        <p:spPr>
          <a:xfrm>
            <a:off x="3073400" y="21590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B06390D-8CED-C6FD-772B-1BD6C6A63AB4}"/>
              </a:ext>
            </a:extLst>
          </p:cNvPr>
          <p:cNvSpPr/>
          <p:nvPr/>
        </p:nvSpPr>
        <p:spPr>
          <a:xfrm>
            <a:off x="3073400" y="2159000"/>
            <a:ext cx="101600" cy="863600"/>
          </a:xfrm>
          <a:prstGeom prst="rect">
            <a:avLst/>
          </a:prstGeom>
          <a:solidFill>
            <a:srgbClr val="417EFF"/>
          </a:solidFill>
          <a:ln w="12700">
            <a:solidFill>
              <a:srgbClr val="417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81DF82D-E782-0C79-E81E-7230CF5A7584}"/>
              </a:ext>
            </a:extLst>
          </p:cNvPr>
          <p:cNvSpPr txBox="1"/>
          <p:nvPr/>
        </p:nvSpPr>
        <p:spPr>
          <a:xfrm>
            <a:off x="3352800" y="2286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417EFF"/>
                </a:solidFill>
                <a:latin typeface="Consolas" panose="020B0609020204030204" pitchFamily="49" charset="0"/>
              </a:rPr>
              <a:t>02</a:t>
            </a:r>
            <a:endParaRPr lang="zh-CN" altLang="en-US" sz="1200" b="1">
              <a:solidFill>
                <a:srgbClr val="417EFF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BE43E53-1735-C3CE-B333-E7D8B5411BE0}"/>
              </a:ext>
            </a:extLst>
          </p:cNvPr>
          <p:cNvSpPr txBox="1"/>
          <p:nvPr/>
        </p:nvSpPr>
        <p:spPr>
          <a:xfrm>
            <a:off x="3810000" y="2273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F4F8FF"/>
                </a:solidFill>
                <a:latin typeface="Microsoft YaHei" panose="020B0503020204020204" pitchFamily="34" charset="-122"/>
              </a:rPr>
              <a:t>核验目的地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B7FB910-2679-58FA-BEB5-400AC2D860EB}"/>
              </a:ext>
            </a:extLst>
          </p:cNvPr>
          <p:cNvSpPr txBox="1"/>
          <p:nvPr/>
        </p:nvSpPr>
        <p:spPr>
          <a:xfrm>
            <a:off x="3810000" y="2603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A6B9D8"/>
                </a:solidFill>
                <a:latin typeface="Microsoft YaHei" panose="020B0503020204020204" pitchFamily="34" charset="-122"/>
              </a:rPr>
              <a:t>MPI </a:t>
            </a:r>
            <a:r>
              <a:rPr lang="zh-CN" altLang="en-US" sz="900">
                <a:solidFill>
                  <a:srgbClr val="A6B9D8"/>
                </a:solidFill>
                <a:latin typeface="Microsoft YaHei" panose="020B0503020204020204" pitchFamily="34" charset="-122"/>
              </a:rPr>
              <a:t>准入 </a:t>
            </a:r>
            <a:r>
              <a:rPr lang="en-US" altLang="zh-CN" sz="900">
                <a:solidFill>
                  <a:srgbClr val="A6B9D8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900">
                <a:solidFill>
                  <a:srgbClr val="A6B9D8"/>
                </a:solidFill>
                <a:latin typeface="Microsoft YaHei" panose="020B0503020204020204" pitchFamily="34" charset="-122"/>
              </a:rPr>
              <a:t>海关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D3084F4-F63A-FA96-8C24-5759D50F167B}"/>
              </a:ext>
            </a:extLst>
          </p:cNvPr>
          <p:cNvSpPr/>
          <p:nvPr/>
        </p:nvSpPr>
        <p:spPr>
          <a:xfrm>
            <a:off x="5181600" y="21590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AB9F1AE-1340-EC1C-3AE5-C09EE729C4D1}"/>
              </a:ext>
            </a:extLst>
          </p:cNvPr>
          <p:cNvSpPr/>
          <p:nvPr/>
        </p:nvSpPr>
        <p:spPr>
          <a:xfrm>
            <a:off x="5181600" y="2159000"/>
            <a:ext cx="101600" cy="863600"/>
          </a:xfrm>
          <a:prstGeom prst="rect">
            <a:avLst/>
          </a:prstGeom>
          <a:solidFill>
            <a:srgbClr val="417EFF"/>
          </a:solidFill>
          <a:ln w="12700">
            <a:solidFill>
              <a:srgbClr val="417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059542A-1733-E4F1-A4F0-6870256F813C}"/>
              </a:ext>
            </a:extLst>
          </p:cNvPr>
          <p:cNvSpPr txBox="1"/>
          <p:nvPr/>
        </p:nvSpPr>
        <p:spPr>
          <a:xfrm>
            <a:off x="5461000" y="2286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417EFF"/>
                </a:solidFill>
                <a:latin typeface="Consolas" panose="020B0609020204030204" pitchFamily="49" charset="0"/>
              </a:rPr>
              <a:t>03</a:t>
            </a:r>
            <a:endParaRPr lang="zh-CN" altLang="en-US" sz="1200" b="1">
              <a:solidFill>
                <a:srgbClr val="417EFF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D2D5A50-30BA-844A-EB46-37774874D05F}"/>
              </a:ext>
            </a:extLst>
          </p:cNvPr>
          <p:cNvSpPr txBox="1"/>
          <p:nvPr/>
        </p:nvSpPr>
        <p:spPr>
          <a:xfrm>
            <a:off x="5918200" y="2273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F4F8FF"/>
                </a:solidFill>
                <a:latin typeface="Microsoft YaHei" panose="020B0503020204020204" pitchFamily="34" charset="-122"/>
              </a:rPr>
              <a:t>生成证据包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F429ACB-33F1-1E09-8C1D-CBA276A50F11}"/>
              </a:ext>
            </a:extLst>
          </p:cNvPr>
          <p:cNvSpPr txBox="1"/>
          <p:nvPr/>
        </p:nvSpPr>
        <p:spPr>
          <a:xfrm>
            <a:off x="5918200" y="2603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>
                <a:solidFill>
                  <a:srgbClr val="A6B9D8"/>
                </a:solidFill>
                <a:latin typeface="Microsoft YaHei" panose="020B0503020204020204" pitchFamily="34" charset="-122"/>
              </a:rPr>
              <a:t>规则、文件、成本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E10801C-2664-6042-E8AB-C78EB5A7EBCA}"/>
              </a:ext>
            </a:extLst>
          </p:cNvPr>
          <p:cNvSpPr/>
          <p:nvPr/>
        </p:nvSpPr>
        <p:spPr>
          <a:xfrm>
            <a:off x="3073400" y="36830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FA5D274-0CDD-3E50-1291-FF6EC1C362E8}"/>
              </a:ext>
            </a:extLst>
          </p:cNvPr>
          <p:cNvSpPr/>
          <p:nvPr/>
        </p:nvSpPr>
        <p:spPr>
          <a:xfrm>
            <a:off x="3073400" y="3683000"/>
            <a:ext cx="101600" cy="863600"/>
          </a:xfrm>
          <a:prstGeom prst="rect">
            <a:avLst/>
          </a:prstGeom>
          <a:solidFill>
            <a:srgbClr val="FFE400"/>
          </a:solidFill>
          <a:ln w="12700">
            <a:solidFill>
              <a:srgbClr val="FFE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D3647A5-DC48-6587-BB5D-EF408DF01D30}"/>
              </a:ext>
            </a:extLst>
          </p:cNvPr>
          <p:cNvSpPr txBox="1"/>
          <p:nvPr/>
        </p:nvSpPr>
        <p:spPr>
          <a:xfrm>
            <a:off x="3352800" y="3810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FFE400"/>
                </a:solidFill>
                <a:latin typeface="Consolas" panose="020B0609020204030204" pitchFamily="49" charset="0"/>
              </a:rPr>
              <a:t>04</a:t>
            </a:r>
            <a:endParaRPr lang="zh-CN" altLang="en-US" sz="1200" b="1">
              <a:solidFill>
                <a:srgbClr val="FFE400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66243CC-35AD-F647-E8F4-ACF4979E7A09}"/>
              </a:ext>
            </a:extLst>
          </p:cNvPr>
          <p:cNvSpPr txBox="1"/>
          <p:nvPr/>
        </p:nvSpPr>
        <p:spPr>
          <a:xfrm>
            <a:off x="3810000" y="3797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F4F8FF"/>
                </a:solidFill>
                <a:latin typeface="Microsoft YaHei" panose="020B0503020204020204" pitchFamily="34" charset="-122"/>
              </a:rPr>
              <a:t>压力测试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C3F40153-AF88-EDFE-C218-437A6FD038E3}"/>
              </a:ext>
            </a:extLst>
          </p:cNvPr>
          <p:cNvSpPr txBox="1"/>
          <p:nvPr/>
        </p:nvSpPr>
        <p:spPr>
          <a:xfrm>
            <a:off x="3810000" y="4127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>
                <a:solidFill>
                  <a:srgbClr val="A6B9D8"/>
                </a:solidFill>
                <a:latin typeface="Microsoft YaHei" panose="020B0503020204020204" pitchFamily="34" charset="-122"/>
              </a:rPr>
              <a:t>六个受控故障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EFF1909-1DD2-ED7C-6F7D-6EFE51D6DDC5}"/>
              </a:ext>
            </a:extLst>
          </p:cNvPr>
          <p:cNvSpPr/>
          <p:nvPr/>
        </p:nvSpPr>
        <p:spPr>
          <a:xfrm>
            <a:off x="7289800" y="36830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B8DC155-DB50-A1EC-6B9D-2F273132894D}"/>
              </a:ext>
            </a:extLst>
          </p:cNvPr>
          <p:cNvSpPr/>
          <p:nvPr/>
        </p:nvSpPr>
        <p:spPr>
          <a:xfrm>
            <a:off x="7289800" y="3683000"/>
            <a:ext cx="101600" cy="863600"/>
          </a:xfrm>
          <a:prstGeom prst="rect">
            <a:avLst/>
          </a:prstGeom>
          <a:solidFill>
            <a:srgbClr val="FF7C1C"/>
          </a:solidFill>
          <a:ln w="12700">
            <a:solidFill>
              <a:srgbClr val="FF7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1762799-4DFA-6E9F-EA90-D9E95106387F}"/>
              </a:ext>
            </a:extLst>
          </p:cNvPr>
          <p:cNvSpPr txBox="1"/>
          <p:nvPr/>
        </p:nvSpPr>
        <p:spPr>
          <a:xfrm>
            <a:off x="7569200" y="3810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FF7C1C"/>
                </a:solidFill>
                <a:latin typeface="Consolas" panose="020B0609020204030204" pitchFamily="49" charset="0"/>
              </a:rPr>
              <a:t>05</a:t>
            </a:r>
            <a:endParaRPr lang="zh-CN" altLang="en-US" sz="1200" b="1">
              <a:solidFill>
                <a:srgbClr val="FF7C1C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3A52C5A-B0EF-1D24-E15A-30F589CAA051}"/>
              </a:ext>
            </a:extLst>
          </p:cNvPr>
          <p:cNvSpPr txBox="1"/>
          <p:nvPr/>
        </p:nvSpPr>
        <p:spPr>
          <a:xfrm>
            <a:off x="8026400" y="3797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F4F8FF"/>
                </a:solidFill>
                <a:latin typeface="Microsoft YaHei" panose="020B0503020204020204" pitchFamily="34" charset="-122"/>
              </a:rPr>
              <a:t>阻断异常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AD2223D-CD80-CF95-C3C0-EAA1C5879648}"/>
              </a:ext>
            </a:extLst>
          </p:cNvPr>
          <p:cNvSpPr txBox="1"/>
          <p:nvPr/>
        </p:nvSpPr>
        <p:spPr>
          <a:xfrm>
            <a:off x="8026400" y="4127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>
                <a:solidFill>
                  <a:srgbClr val="A6B9D8"/>
                </a:solidFill>
                <a:latin typeface="Microsoft YaHei" panose="020B0503020204020204" pitchFamily="34" charset="-122"/>
              </a:rPr>
              <a:t>事实变化即停止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9A19EA5-434A-611F-822C-999AEF6515DE}"/>
              </a:ext>
            </a:extLst>
          </p:cNvPr>
          <p:cNvSpPr/>
          <p:nvPr/>
        </p:nvSpPr>
        <p:spPr>
          <a:xfrm>
            <a:off x="5181600" y="52832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0044055-4D3D-7A47-4F0B-7508E257FE44}"/>
              </a:ext>
            </a:extLst>
          </p:cNvPr>
          <p:cNvSpPr/>
          <p:nvPr/>
        </p:nvSpPr>
        <p:spPr>
          <a:xfrm>
            <a:off x="5181600" y="5283200"/>
            <a:ext cx="101600" cy="863600"/>
          </a:xfrm>
          <a:prstGeom prst="rect">
            <a:avLst/>
          </a:prstGeom>
          <a:solidFill>
            <a:srgbClr val="12AE6F"/>
          </a:solidFill>
          <a:ln w="12700">
            <a:solidFill>
              <a:srgbClr val="12A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F760F202-2FFC-43E7-5F9F-F48DA0F75702}"/>
              </a:ext>
            </a:extLst>
          </p:cNvPr>
          <p:cNvSpPr txBox="1"/>
          <p:nvPr/>
        </p:nvSpPr>
        <p:spPr>
          <a:xfrm>
            <a:off x="5461000" y="54102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12AE6F"/>
                </a:solidFill>
                <a:latin typeface="Consolas" panose="020B0609020204030204" pitchFamily="49" charset="0"/>
              </a:rPr>
              <a:t>06</a:t>
            </a:r>
            <a:endParaRPr lang="zh-CN" altLang="en-US" sz="1200" b="1">
              <a:solidFill>
                <a:srgbClr val="12AE6F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B7F22FF-AEA0-0312-F32A-6DE8E60CD968}"/>
              </a:ext>
            </a:extLst>
          </p:cNvPr>
          <p:cNvSpPr txBox="1"/>
          <p:nvPr/>
        </p:nvSpPr>
        <p:spPr>
          <a:xfrm>
            <a:off x="5918200" y="5397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F4F8FF"/>
                </a:solidFill>
                <a:latin typeface="Microsoft YaHei" panose="020B0503020204020204" pitchFamily="34" charset="-122"/>
              </a:rPr>
              <a:t>最终放行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D06A6E0-0C45-2A47-12E4-0AC88012CEF0}"/>
              </a:ext>
            </a:extLst>
          </p:cNvPr>
          <p:cNvSpPr txBox="1"/>
          <p:nvPr/>
        </p:nvSpPr>
        <p:spPr>
          <a:xfrm>
            <a:off x="5918200" y="57277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>
                <a:solidFill>
                  <a:srgbClr val="A6B9D8"/>
                </a:solidFill>
                <a:latin typeface="Microsoft YaHei" panose="020B0503020204020204" pitchFamily="34" charset="-122"/>
              </a:rPr>
              <a:t>给 </a:t>
            </a:r>
            <a:r>
              <a:rPr lang="en-US" altLang="zh-CN" sz="900">
                <a:solidFill>
                  <a:srgbClr val="A6B9D8"/>
                </a:solidFill>
                <a:latin typeface="Microsoft YaHei" panose="020B0503020204020204" pitchFamily="34" charset="-122"/>
              </a:rPr>
              <a:t>broker </a:t>
            </a:r>
            <a:r>
              <a:rPr lang="zh-CN" altLang="en-US" sz="900">
                <a:solidFill>
                  <a:srgbClr val="A6B9D8"/>
                </a:solidFill>
                <a:latin typeface="Microsoft YaHei" panose="020B0503020204020204" pitchFamily="34" charset="-122"/>
              </a:rPr>
              <a:t>的决定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515F13F-B127-65BE-AD59-91B7A545E5FB}"/>
              </a:ext>
            </a:extLst>
          </p:cNvPr>
          <p:cNvSpPr/>
          <p:nvPr/>
        </p:nvSpPr>
        <p:spPr>
          <a:xfrm>
            <a:off x="9982200" y="2159000"/>
            <a:ext cx="1600200" cy="3479800"/>
          </a:xfrm>
          <a:prstGeom prst="rect">
            <a:avLst/>
          </a:prstGeom>
          <a:solidFill>
            <a:srgbClr val="050B1E"/>
          </a:solidFill>
          <a:ln w="12700">
            <a:solidFill>
              <a:srgbClr val="050B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8EA35608-A285-3F1A-2C25-7E19FF84210C}"/>
              </a:ext>
            </a:extLst>
          </p:cNvPr>
          <p:cNvSpPr txBox="1"/>
          <p:nvPr/>
        </p:nvSpPr>
        <p:spPr>
          <a:xfrm>
            <a:off x="10287000" y="24892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 b="1">
                <a:solidFill>
                  <a:srgbClr val="BFFF00"/>
                </a:solidFill>
                <a:latin typeface="Microsoft YaHei" panose="020B0503020204020204" pitchFamily="34" charset="-122"/>
              </a:rPr>
              <a:t>运行时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508192C7-716E-41F0-7117-6FAD91D6DB9B}"/>
              </a:ext>
            </a:extLst>
          </p:cNvPr>
          <p:cNvSpPr txBox="1"/>
          <p:nvPr/>
        </p:nvSpPr>
        <p:spPr>
          <a:xfrm>
            <a:off x="10287000" y="28702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400">
                <a:solidFill>
                  <a:srgbClr val="FFFFFF"/>
                </a:solidFill>
                <a:latin typeface="Consolas" panose="020B0609020204030204" pitchFamily="49" charset="0"/>
              </a:rPr>
              <a:t>3</a:t>
            </a:r>
            <a:endParaRPr lang="zh-CN" altLang="en-US" sz="34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60163569-729A-1F66-9E47-747DA2D29F5F}"/>
              </a:ext>
            </a:extLst>
          </p:cNvPr>
          <p:cNvSpPr txBox="1"/>
          <p:nvPr/>
        </p:nvSpPr>
        <p:spPr>
          <a:xfrm>
            <a:off x="10287000" y="35560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 b="1">
                <a:solidFill>
                  <a:srgbClr val="A6B9D8"/>
                </a:solidFill>
                <a:latin typeface="Microsoft YaHei" panose="020B0503020204020204" pitchFamily="34" charset="-122"/>
              </a:rPr>
              <a:t>并行根</a:t>
            </a:r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8E9C2333-D668-A8A3-847F-970D63AD76D2}"/>
              </a:ext>
            </a:extLst>
          </p:cNvPr>
          <p:cNvCxnSpPr/>
          <p:nvPr/>
        </p:nvCxnSpPr>
        <p:spPr>
          <a:xfrm>
            <a:off x="10287000" y="4064000"/>
            <a:ext cx="9906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61E24554-E365-9D38-DEB7-33A830AE989B}"/>
              </a:ext>
            </a:extLst>
          </p:cNvPr>
          <p:cNvSpPr txBox="1"/>
          <p:nvPr/>
        </p:nvSpPr>
        <p:spPr>
          <a:xfrm>
            <a:off x="10287000" y="42672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400">
                <a:solidFill>
                  <a:srgbClr val="BFFF00"/>
                </a:solidFill>
                <a:latin typeface="Consolas" panose="020B0609020204030204" pitchFamily="49" charset="0"/>
              </a:rPr>
              <a:t>10</a:t>
            </a:r>
            <a:endParaRPr lang="zh-CN" altLang="en-US" sz="3400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E7DDE4C-ECA5-9870-24A8-B5668DAB06BC}"/>
              </a:ext>
            </a:extLst>
          </p:cNvPr>
          <p:cNvSpPr txBox="1"/>
          <p:nvPr/>
        </p:nvSpPr>
        <p:spPr>
          <a:xfrm>
            <a:off x="10287000" y="49530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 b="1">
                <a:solidFill>
                  <a:srgbClr val="A6B9D8"/>
                </a:solidFill>
                <a:latin typeface="Microsoft YaHei" panose="020B0503020204020204" pitchFamily="34" charset="-122"/>
              </a:rPr>
              <a:t>依赖边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005BE322-D701-7C71-2621-260AEA03AF9D}"/>
              </a:ext>
            </a:extLst>
          </p:cNvPr>
          <p:cNvSpPr txBox="1"/>
          <p:nvPr/>
        </p:nvSpPr>
        <p:spPr>
          <a:xfrm>
            <a:off x="10287000" y="53848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FFFFFF"/>
                </a:solidFill>
                <a:latin typeface="Microsoft YaHei" panose="020B0503020204020204" pitchFamily="34" charset="-122"/>
              </a:rPr>
              <a:t>4 </a:t>
            </a:r>
            <a:r>
              <a:rPr lang="zh-CN" altLang="en-US" sz="900">
                <a:solidFill>
                  <a:srgbClr val="FFFFFF"/>
                </a:solidFill>
                <a:latin typeface="Microsoft YaHei" panose="020B0503020204020204" pitchFamily="34" charset="-122"/>
              </a:rPr>
              <a:t>阶段关键路径</a:t>
            </a:r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632A174A-967A-7F55-01B2-A4958AC2F244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CF0C28C7-6E83-992E-E64D-C8D9B60C1376}"/>
              </a:ext>
            </a:extLst>
          </p:cNvPr>
          <p:cNvSpPr txBox="1"/>
          <p:nvPr/>
        </p:nvSpPr>
        <p:spPr>
          <a:xfrm>
            <a:off x="609600" y="65532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BEETRUST / 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本地 </a:t>
            </a:r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E2E / 2026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年</a:t>
            </a:r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9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月</a:t>
            </a:r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18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日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3B7CC8AC-F3BA-2B18-BB88-CC29852C8F00}"/>
              </a:ext>
            </a:extLst>
          </p:cNvPr>
          <p:cNvSpPr txBox="1"/>
          <p:nvPr/>
        </p:nvSpPr>
        <p:spPr>
          <a:xfrm>
            <a:off x="11049000" y="6527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 b="1">
                <a:solidFill>
                  <a:srgbClr val="F4F8FF"/>
                </a:solidFill>
                <a:latin typeface="Consolas" panose="020B0609020204030204" pitchFamily="49" charset="0"/>
              </a:rPr>
              <a:t>03</a:t>
            </a:r>
            <a:endParaRPr lang="zh-CN" altLang="en-US" sz="900" b="1">
              <a:solidFill>
                <a:srgbClr val="F4F8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655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182EC4BB-3774-E878-2735-1CD1282C7C2B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03A97C4-48AD-7C3A-3A50-5E4596841DDE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39E03EE-50C7-D9D1-58F5-9D73A9EE647A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9AF9BA5-4715-1297-B54D-3D6CAD7B9BAA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6D23102-B1B7-3482-2D71-9D4389F20103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16DBA41-7635-F579-75A9-E5E7E829F67E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868E6B3-5587-82FC-EC1D-0DE4E1098A58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50F8A2E-03D0-5088-27CF-49D733072425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62180B5-BE89-DE9E-AFB1-62CE954FC012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E99B9D9-B739-F117-17D3-4D0E9A73AC39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0F386E8-453A-2869-022D-C817E4A357E5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F19F9DD-953F-81D1-4B01-3326F80FFD50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BA0FF29-2523-1969-70C5-6D3BC7C8D423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953F8B3-C115-39EC-32BC-A6545FFABE74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FF9DE3E-E2EB-F4EC-9B75-49A3662CCC47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6470B60-140F-B095-A5E9-159C944241DF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6DF42E1-6AD6-8055-1818-07AF547FC4E5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B27EB22-5B1C-8F41-52FF-E72C6A49A211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2C4A9A5-3811-9E4D-214A-A9D3FB54FBED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3C7527B-0431-46E7-21A9-5238687E15C3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C319A5D-7D91-E57C-64F2-E8C5E1CE44B8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CFA9B05-51AC-CD71-F442-B5136AF0F751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DED4590-4F77-AF99-4060-921C021811CA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50B5485-053D-5C75-29C2-C5C965BC3A25}"/>
              </a:ext>
            </a:extLst>
          </p:cNvPr>
          <p:cNvSpPr txBox="1"/>
          <p:nvPr/>
        </p:nvSpPr>
        <p:spPr>
          <a:xfrm>
            <a:off x="609600" y="406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BFFF00"/>
                </a:solidFill>
                <a:latin typeface="Microsoft YaHei" panose="020B0503020204020204" pitchFamily="34" charset="-122"/>
              </a:rPr>
              <a:t>03 / </a:t>
            </a:r>
            <a:r>
              <a:rPr lang="zh-CN" altLang="en-US" sz="900" b="1">
                <a:solidFill>
                  <a:srgbClr val="BFFF00"/>
                </a:solidFill>
                <a:latin typeface="Microsoft YaHei" panose="020B0503020204020204" pitchFamily="34" charset="-122"/>
              </a:rPr>
              <a:t>运行时证据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2C4DF8E-E699-886F-DCE9-B3D0A6488177}"/>
              </a:ext>
            </a:extLst>
          </p:cNvPr>
          <p:cNvSpPr txBox="1"/>
          <p:nvPr/>
        </p:nvSpPr>
        <p:spPr>
          <a:xfrm>
            <a:off x="609600" y="685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900">
                <a:solidFill>
                  <a:srgbClr val="FFFFFF"/>
                </a:solidFill>
                <a:latin typeface="Microsoft YaHei" panose="020B0503020204020204" pitchFamily="34" charset="-122"/>
              </a:rPr>
              <a:t>页面先回答业务问题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33AD81C-2526-4C3E-9786-188C4DC31FC2}"/>
              </a:ext>
            </a:extLst>
          </p:cNvPr>
          <p:cNvSpPr txBox="1"/>
          <p:nvPr/>
        </p:nvSpPr>
        <p:spPr>
          <a:xfrm>
            <a:off x="609600" y="13462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748FBE"/>
                </a:solidFill>
                <a:latin typeface="Microsoft YaHei" panose="020B0503020204020204" pitchFamily="34" charset="-122"/>
              </a:rPr>
              <a:t>再用运行时证据解释：为什么这批货可以放行。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70DA297-4D81-5B6B-2B8D-EC7BB035AECB}"/>
              </a:ext>
            </a:extLst>
          </p:cNvPr>
          <p:cNvSpPr txBox="1"/>
          <p:nvPr/>
        </p:nvSpPr>
        <p:spPr>
          <a:xfrm>
            <a:off x="609600" y="2260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100">
                <a:solidFill>
                  <a:srgbClr val="BFFF00"/>
                </a:solidFill>
                <a:latin typeface="Microsoft YaHei" panose="020B0503020204020204" pitchFamily="34" charset="-122"/>
              </a:rPr>
              <a:t>放行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DE0961D-B587-6424-0DAF-083B05522385}"/>
              </a:ext>
            </a:extLst>
          </p:cNvPr>
          <p:cNvSpPr txBox="1"/>
          <p:nvPr/>
        </p:nvSpPr>
        <p:spPr>
          <a:xfrm>
            <a:off x="609600" y="2895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>
                <a:solidFill>
                  <a:srgbClr val="FFFFFF"/>
                </a:solidFill>
                <a:latin typeface="Consolas" panose="020B0609020204030204" pitchFamily="49" charset="0"/>
              </a:rPr>
              <a:t>100 / 100</a:t>
            </a:r>
            <a:endParaRPr lang="zh-CN" altLang="en-US" sz="35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0FDBB40-F782-5EE7-FDFB-551335649648}"/>
              </a:ext>
            </a:extLst>
          </p:cNvPr>
          <p:cNvSpPr txBox="1"/>
          <p:nvPr/>
        </p:nvSpPr>
        <p:spPr>
          <a:xfrm>
            <a:off x="609600" y="37338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5 </a:t>
            </a:r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道门通过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774CAFE-BD7C-97A5-23D0-6C8979D892C9}"/>
              </a:ext>
            </a:extLst>
          </p:cNvPr>
          <p:cNvCxnSpPr/>
          <p:nvPr/>
        </p:nvCxnSpPr>
        <p:spPr>
          <a:xfrm>
            <a:off x="609600" y="4318000"/>
            <a:ext cx="34544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B053C408-4CD8-25E2-6D06-43810D721CBE}"/>
              </a:ext>
            </a:extLst>
          </p:cNvPr>
          <p:cNvSpPr txBox="1"/>
          <p:nvPr/>
        </p:nvSpPr>
        <p:spPr>
          <a:xfrm>
            <a:off x="609600" y="4597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748FBE"/>
                </a:solidFill>
                <a:latin typeface="Microsoft YaHei" panose="020B0503020204020204" pitchFamily="34" charset="-122"/>
              </a:rPr>
              <a:t>一眼看到：案例、门禁、故障和最终决定。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BC1A942-A282-EB17-6F95-3004605DA3CC}"/>
              </a:ext>
            </a:extLst>
          </p:cNvPr>
          <p:cNvSpPr txBox="1"/>
          <p:nvPr/>
        </p:nvSpPr>
        <p:spPr>
          <a:xfrm>
            <a:off x="609600" y="55626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>
                <a:solidFill>
                  <a:srgbClr val="748FBE"/>
                </a:solidFill>
                <a:latin typeface="Microsoft YaHei" panose="020B0503020204020204" pitchFamily="34" charset="-122"/>
              </a:rPr>
              <a:t>截图：</a:t>
            </a:r>
            <a:r>
              <a:rPr lang="en-US" altLang="zh-CN" sz="900">
                <a:solidFill>
                  <a:srgbClr val="748FBE"/>
                </a:solidFill>
                <a:latin typeface="Microsoft YaHei" panose="020B0503020204020204" pitchFamily="34" charset="-122"/>
              </a:rPr>
              <a:t>npm run demo</a:t>
            </a:r>
            <a:endParaRPr lang="zh-CN" altLang="en-US" sz="900">
              <a:solidFill>
                <a:srgbClr val="748FB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A6D23D3-A791-AD94-E214-42843AB1087F}"/>
              </a:ext>
            </a:extLst>
          </p:cNvPr>
          <p:cNvSpPr/>
          <p:nvPr/>
        </p:nvSpPr>
        <p:spPr>
          <a:xfrm>
            <a:off x="5130800" y="1879600"/>
            <a:ext cx="6451600" cy="474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 descr="Local BeeTrust dashboard showing the release decision and evidence matrix">
            <a:extLst>
              <a:ext uri="{FF2B5EF4-FFF2-40B4-BE49-F238E27FC236}">
                <a16:creationId xmlns:a16="http://schemas.microsoft.com/office/drawing/2014/main" id="{D2DEB08F-4FB0-6B7F-6B60-75E1DAA2445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981200"/>
            <a:ext cx="6045200" cy="4533900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2F881A00-804B-CDC4-E0F6-80A3057E858F}"/>
              </a:ext>
            </a:extLst>
          </p:cNvPr>
          <p:cNvSpPr txBox="1"/>
          <p:nvPr/>
        </p:nvSpPr>
        <p:spPr>
          <a:xfrm>
            <a:off x="11049000" y="6070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BFFF00"/>
                </a:solidFill>
                <a:latin typeface="Consolas" panose="020B0609020204030204" pitchFamily="49" charset="0"/>
              </a:rPr>
              <a:t>04</a:t>
            </a:r>
            <a:endParaRPr lang="zh-CN" altLang="en-US" sz="1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498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0C492E14-B602-7E64-3D2F-87B24CC1F47E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AE82EA1-099B-77D3-CBCC-7A497419BE68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05DF1C9-8B7E-318D-1EBD-5307449099A2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BE8A9CA-FFE0-D460-8316-E76A150B6B0E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B87F941-E1B4-7965-D93A-C5C51FB5E225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738C731-109A-81C6-372C-D766F2F2FB37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064C321-DE0E-7153-3F4D-FC967AE58591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B7D68C9-3DA8-D852-743C-F84B0AF48175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CB5EC86-AFCA-DD56-AA10-FE46EA3DF0B7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45E2C73-D5AE-EB77-2A32-8EDD22163D00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16F1D3A-569A-D422-AC6E-DDC5EF831FA0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27457B4-2097-B718-D1C4-558CC7ACCB23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295751D-E204-FF4D-14F9-ECB05D3EC2CC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5C40071-F593-A52C-9057-031A5261E5AD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0B846A1-D072-E50C-5E79-AEEBF1339643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C8EBCB0-E8E1-A865-4B9D-551C25E298C4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EF4B357-F82C-F0EF-2674-9580870FB683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3D68CEE-8D8F-DAD9-DD47-461AAE8FE01D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9AFD8BE-3E8A-48E6-913F-3CE6EFA9D888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102F940-7877-D0D1-B9C1-144179FB49DC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F27F38B-F34A-D57E-FC05-72BDF1146433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81FFE8C-18CD-3A6E-6307-E7F00AFD32F5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EEBAE1C-1677-CE47-29C9-38AD575CD2E5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CC453CB3-B3A4-B29D-5363-F6B66EA0CC04}"/>
              </a:ext>
            </a:extLst>
          </p:cNvPr>
          <p:cNvSpPr txBox="1"/>
          <p:nvPr/>
        </p:nvSpPr>
        <p:spPr>
          <a:xfrm>
            <a:off x="609600" y="406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417EFF"/>
                </a:solidFill>
                <a:latin typeface="Microsoft YaHei" panose="020B0503020204020204" pitchFamily="34" charset="-122"/>
              </a:rPr>
              <a:t>04 / </a:t>
            </a:r>
            <a:r>
              <a:rPr lang="zh-CN" altLang="en-US" sz="900" b="1">
                <a:solidFill>
                  <a:srgbClr val="417EFF"/>
                </a:solidFill>
                <a:latin typeface="Microsoft YaHei" panose="020B0503020204020204" pitchFamily="34" charset="-122"/>
              </a:rPr>
              <a:t>保障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EE788DA-F5CA-1381-A212-FFC345BBEC03}"/>
              </a:ext>
            </a:extLst>
          </p:cNvPr>
          <p:cNvSpPr txBox="1"/>
          <p:nvPr/>
        </p:nvSpPr>
        <p:spPr>
          <a:xfrm>
            <a:off x="609600" y="685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900">
                <a:solidFill>
                  <a:srgbClr val="F4F8FF"/>
                </a:solidFill>
                <a:latin typeface="Microsoft YaHei" panose="020B0503020204020204" pitchFamily="34" charset="-122"/>
              </a:rPr>
              <a:t>关键事实一变，放行立即停止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1A8A04A-5F28-0F45-5309-CE778822F76D}"/>
              </a:ext>
            </a:extLst>
          </p:cNvPr>
          <p:cNvSpPr txBox="1"/>
          <p:nvPr/>
        </p:nvSpPr>
        <p:spPr>
          <a:xfrm>
            <a:off x="609600" y="14224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A6B9D8"/>
                </a:solidFill>
                <a:latin typeface="Microsoft YaHei" panose="020B0503020204020204" pitchFamily="34" charset="-122"/>
              </a:rPr>
              <a:t>把真实业务中最容易出错的六类变化直接注入案例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1139DCC-1610-4FC2-537C-4103ED96A5FF}"/>
              </a:ext>
            </a:extLst>
          </p:cNvPr>
          <p:cNvSpPr/>
          <p:nvPr/>
        </p:nvSpPr>
        <p:spPr>
          <a:xfrm>
            <a:off x="609600" y="2082800"/>
            <a:ext cx="3048000" cy="4140200"/>
          </a:xfrm>
          <a:prstGeom prst="rect">
            <a:avLst/>
          </a:prstGeom>
          <a:solidFill>
            <a:srgbClr val="050B1E"/>
          </a:solidFill>
          <a:ln w="12700">
            <a:solidFill>
              <a:srgbClr val="050B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 descr="Local dashboard showing adversarial simulation and runtime SkillMessage timeline">
            <a:extLst>
              <a:ext uri="{FF2B5EF4-FFF2-40B4-BE49-F238E27FC236}">
                <a16:creationId xmlns:a16="http://schemas.microsoft.com/office/drawing/2014/main" id="{2F25679C-64CC-F6B2-6AD1-AB85021D2B7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235200"/>
            <a:ext cx="2794000" cy="38354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5EE4B48E-CAE9-F35F-CAEB-7EBAAF5E19C1}"/>
              </a:ext>
            </a:extLst>
          </p:cNvPr>
          <p:cNvSpPr txBox="1"/>
          <p:nvPr/>
        </p:nvSpPr>
        <p:spPr>
          <a:xfrm>
            <a:off x="4419600" y="2108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4700">
                <a:solidFill>
                  <a:srgbClr val="FF4A60"/>
                </a:solidFill>
                <a:latin typeface="Consolas" panose="020B0609020204030204" pitchFamily="49" charset="0"/>
              </a:rPr>
              <a:t>6 / 6</a:t>
            </a:r>
            <a:endParaRPr lang="zh-CN" altLang="en-US" sz="4700">
              <a:solidFill>
                <a:srgbClr val="FF4A60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C249972-8581-E5CF-BFB2-011F9C831E68}"/>
              </a:ext>
            </a:extLst>
          </p:cNvPr>
          <p:cNvSpPr txBox="1"/>
          <p:nvPr/>
        </p:nvSpPr>
        <p:spPr>
          <a:xfrm>
            <a:off x="4445000" y="28702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全部故障已阻断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AC6DE1EE-54DC-CF06-9737-257C62E94FC2}"/>
              </a:ext>
            </a:extLst>
          </p:cNvPr>
          <p:cNvCxnSpPr/>
          <p:nvPr/>
        </p:nvCxnSpPr>
        <p:spPr>
          <a:xfrm>
            <a:off x="4419600" y="34290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4D262BBC-D171-A11C-0474-2EA7CD69FC96}"/>
              </a:ext>
            </a:extLst>
          </p:cNvPr>
          <p:cNvSpPr txBox="1"/>
          <p:nvPr/>
        </p:nvSpPr>
        <p:spPr>
          <a:xfrm>
            <a:off x="4419600" y="35433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指纹不匹配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CA405D6-963A-2227-0745-180C8F7EAA9F}"/>
              </a:ext>
            </a:extLst>
          </p:cNvPr>
          <p:cNvSpPr txBox="1"/>
          <p:nvPr/>
        </p:nvSpPr>
        <p:spPr>
          <a:xfrm>
            <a:off x="10490200" y="35433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 b="1">
                <a:solidFill>
                  <a:srgbClr val="FF4A60"/>
                </a:solidFill>
                <a:latin typeface="Microsoft YaHei" panose="020B0503020204020204" pitchFamily="34" charset="-122"/>
              </a:rPr>
              <a:t>已阻断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0B354C2E-1DDC-4E7E-5D10-E10B0B6A46AA}"/>
              </a:ext>
            </a:extLst>
          </p:cNvPr>
          <p:cNvCxnSpPr/>
          <p:nvPr/>
        </p:nvCxnSpPr>
        <p:spPr>
          <a:xfrm>
            <a:off x="4419600" y="38227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4B895332-EB89-E421-EC57-1C3FD9204F4B}"/>
              </a:ext>
            </a:extLst>
          </p:cNvPr>
          <p:cNvSpPr txBox="1"/>
          <p:nvPr/>
        </p:nvSpPr>
        <p:spPr>
          <a:xfrm>
            <a:off x="4419600" y="39370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批次 </a:t>
            </a:r>
            <a:r>
              <a:rPr lang="en-US" altLang="zh-CN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ID </a:t>
            </a:r>
            <a:r>
              <a:rPr lang="zh-CN" altLang="en-US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被篡改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1E3B00F-74AF-8521-033F-8FEA365BEF88}"/>
              </a:ext>
            </a:extLst>
          </p:cNvPr>
          <p:cNvSpPr txBox="1"/>
          <p:nvPr/>
        </p:nvSpPr>
        <p:spPr>
          <a:xfrm>
            <a:off x="10490200" y="39370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 b="1">
                <a:solidFill>
                  <a:srgbClr val="FF4A60"/>
                </a:solidFill>
                <a:latin typeface="Microsoft YaHei" panose="020B0503020204020204" pitchFamily="34" charset="-122"/>
              </a:rPr>
              <a:t>已阻断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588AA49-0E9E-3CC1-2238-1D65ECCD1B8B}"/>
              </a:ext>
            </a:extLst>
          </p:cNvPr>
          <p:cNvCxnSpPr/>
          <p:nvPr/>
        </p:nvCxnSpPr>
        <p:spPr>
          <a:xfrm>
            <a:off x="4419600" y="42164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19FAAF9D-F6A0-E8CF-8891-1B748930E815}"/>
              </a:ext>
            </a:extLst>
          </p:cNvPr>
          <p:cNvSpPr txBox="1"/>
          <p:nvPr/>
        </p:nvSpPr>
        <p:spPr>
          <a:xfrm>
            <a:off x="4419600" y="43307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文件缺失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1CC479B-AD6D-21B7-D890-44141C60DA68}"/>
              </a:ext>
            </a:extLst>
          </p:cNvPr>
          <p:cNvSpPr txBox="1"/>
          <p:nvPr/>
        </p:nvSpPr>
        <p:spPr>
          <a:xfrm>
            <a:off x="10490200" y="43307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 b="1">
                <a:solidFill>
                  <a:srgbClr val="FF4A60"/>
                </a:solidFill>
                <a:latin typeface="Microsoft YaHei" panose="020B0503020204020204" pitchFamily="34" charset="-122"/>
              </a:rPr>
              <a:t>已阻断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51B941AF-58F5-EC97-0B67-D1850BBFC54F}"/>
              </a:ext>
            </a:extLst>
          </p:cNvPr>
          <p:cNvCxnSpPr/>
          <p:nvPr/>
        </p:nvCxnSpPr>
        <p:spPr>
          <a:xfrm>
            <a:off x="4419600" y="46101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BEC51419-DBD1-C933-FAFB-0BA44DFC6EEE}"/>
              </a:ext>
            </a:extLst>
          </p:cNvPr>
          <p:cNvSpPr txBox="1"/>
          <p:nvPr/>
        </p:nvSpPr>
        <p:spPr>
          <a:xfrm>
            <a:off x="4419600" y="47244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数量不匹配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05DAB39-CFFC-D8B2-6E99-B95E4BDC863C}"/>
              </a:ext>
            </a:extLst>
          </p:cNvPr>
          <p:cNvSpPr txBox="1"/>
          <p:nvPr/>
        </p:nvSpPr>
        <p:spPr>
          <a:xfrm>
            <a:off x="10490200" y="47244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 b="1">
                <a:solidFill>
                  <a:srgbClr val="FF4A60"/>
                </a:solidFill>
                <a:latin typeface="Microsoft YaHei" panose="020B0503020204020204" pitchFamily="34" charset="-122"/>
              </a:rPr>
              <a:t>已阻断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54CCD12A-A74C-D337-D438-20199020D3D7}"/>
              </a:ext>
            </a:extLst>
          </p:cNvPr>
          <p:cNvCxnSpPr/>
          <p:nvPr/>
        </p:nvCxnSpPr>
        <p:spPr>
          <a:xfrm>
            <a:off x="4419600" y="50038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DE589158-8D20-AEA8-D0E6-FD2229A7EF67}"/>
              </a:ext>
            </a:extLst>
          </p:cNvPr>
          <p:cNvSpPr txBox="1"/>
          <p:nvPr/>
        </p:nvSpPr>
        <p:spPr>
          <a:xfrm>
            <a:off x="4419600" y="51181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目的地变更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CBBF445-ED77-05D0-B1F3-61DCCEE03B9C}"/>
              </a:ext>
            </a:extLst>
          </p:cNvPr>
          <p:cNvSpPr txBox="1"/>
          <p:nvPr/>
        </p:nvSpPr>
        <p:spPr>
          <a:xfrm>
            <a:off x="10490200" y="51181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 b="1">
                <a:solidFill>
                  <a:srgbClr val="FF4A60"/>
                </a:solidFill>
                <a:latin typeface="Microsoft YaHei" panose="020B0503020204020204" pitchFamily="34" charset="-122"/>
              </a:rPr>
              <a:t>已阻断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ED3D1267-FACC-1EFF-D88F-89B9D6E54113}"/>
              </a:ext>
            </a:extLst>
          </p:cNvPr>
          <p:cNvCxnSpPr/>
          <p:nvPr/>
        </p:nvCxnSpPr>
        <p:spPr>
          <a:xfrm>
            <a:off x="4419600" y="53975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69B17150-EDE1-E890-ECFD-893A14AB23CF}"/>
              </a:ext>
            </a:extLst>
          </p:cNvPr>
          <p:cNvSpPr txBox="1"/>
          <p:nvPr/>
        </p:nvSpPr>
        <p:spPr>
          <a:xfrm>
            <a:off x="4419600" y="55118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规则版本冲突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BE6A9A1-C4EE-65AE-5571-8935D2F91069}"/>
              </a:ext>
            </a:extLst>
          </p:cNvPr>
          <p:cNvSpPr txBox="1"/>
          <p:nvPr/>
        </p:nvSpPr>
        <p:spPr>
          <a:xfrm>
            <a:off x="10490200" y="55118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 b="1">
                <a:solidFill>
                  <a:srgbClr val="FF4A60"/>
                </a:solidFill>
                <a:latin typeface="Microsoft YaHei" panose="020B0503020204020204" pitchFamily="34" charset="-122"/>
              </a:rPr>
              <a:t>已阻断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C6B5C98-C0D5-9256-9AFD-D868603D4E7C}"/>
              </a:ext>
            </a:extLst>
          </p:cNvPr>
          <p:cNvSpPr txBox="1"/>
          <p:nvPr/>
        </p:nvSpPr>
        <p:spPr>
          <a:xfrm>
            <a:off x="4419600" y="59436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A6B9D8"/>
                </a:solidFill>
                <a:latin typeface="Consolas" panose="020B0609020204030204" pitchFamily="49" charset="0"/>
              </a:rPr>
              <a:t>12 </a:t>
            </a:r>
            <a:r>
              <a:rPr lang="zh-CN" altLang="en-US" sz="900">
                <a:solidFill>
                  <a:srgbClr val="A6B9D8"/>
                </a:solidFill>
                <a:latin typeface="Consolas" panose="020B0609020204030204" pitchFamily="49" charset="0"/>
              </a:rPr>
              <a:t>个运行时事件 </a:t>
            </a:r>
            <a:r>
              <a:rPr lang="en-US" altLang="zh-CN" sz="900">
                <a:solidFill>
                  <a:srgbClr val="A6B9D8"/>
                </a:solidFill>
                <a:latin typeface="Consolas" panose="020B0609020204030204" pitchFamily="49" charset="0"/>
              </a:rPr>
              <a:t>/ SkillMessage/v1</a:t>
            </a:r>
            <a:endParaRPr lang="zh-CN" altLang="en-US" sz="900">
              <a:solidFill>
                <a:srgbClr val="A6B9D8"/>
              </a:solidFill>
              <a:latin typeface="Consolas" panose="020B0609020204030204" pitchFamily="49" charset="0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3295479F-2433-FD6A-0CE1-B23061C2E0D3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A6C26BA0-E899-7170-2926-335054A251F0}"/>
              </a:ext>
            </a:extLst>
          </p:cNvPr>
          <p:cNvSpPr txBox="1"/>
          <p:nvPr/>
        </p:nvSpPr>
        <p:spPr>
          <a:xfrm>
            <a:off x="609600" y="65532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BEETRUST / 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本地 </a:t>
            </a:r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E2E / 2026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年</a:t>
            </a:r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9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月</a:t>
            </a:r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18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日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6E54BF5-166E-B551-E067-0C0BF5FB7AF5}"/>
              </a:ext>
            </a:extLst>
          </p:cNvPr>
          <p:cNvSpPr txBox="1"/>
          <p:nvPr/>
        </p:nvSpPr>
        <p:spPr>
          <a:xfrm>
            <a:off x="11049000" y="6527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 b="1">
                <a:solidFill>
                  <a:srgbClr val="F4F8FF"/>
                </a:solidFill>
                <a:latin typeface="Consolas" panose="020B0609020204030204" pitchFamily="49" charset="0"/>
              </a:rPr>
              <a:t>05</a:t>
            </a:r>
            <a:endParaRPr lang="zh-CN" altLang="en-US" sz="900" b="1">
              <a:solidFill>
                <a:srgbClr val="F4F8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529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B3C50A6C-13F7-6B3C-7971-06D6D03E2D48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D60DDCA-A1E8-033E-353F-6429ECA2031B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59F71E63-3682-237D-4856-D9263D843E77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6F58FA2-93EB-9766-1981-E9FA78524B92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C256437-CB7C-B4C9-A87D-FC118AF8D03A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3C9C6D0-24C8-0154-63AD-23D9CC8C56AB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1B50502-05B6-ACE7-20AA-308854CE41AB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709DBA3-A2EB-FF5B-2EB1-34287D549DED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0423859-762F-4550-D0DB-8C30E3C3E2EB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4220C09-950D-A105-91D9-CF03BA098578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DCD8DB4-4CFF-E56B-AE52-30B60AD4A318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57DA321-CB85-0D4D-D59E-A93B498C6876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F5D8D06-C819-C10F-B42C-BF41A14C3CCA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DA57869-697E-30B4-23AE-D89794810DA4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36232B6-CAAA-960C-C06D-C8C0F6072EA1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85151C2-BE2B-3736-74CA-6309F4505A7F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8CC1E9E-7EA1-0271-54F5-E7EF5C7E397F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04083FD-A519-A96D-F6DE-F88624C45966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25D23F2-B8AD-00F5-259A-90BF1B3DCFDB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1EEA05E-0AAB-D8CD-3687-87C667079C41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AF08F88-4B54-3E29-D4EA-06117C124328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093AA2A-71CF-2FB4-A779-5734B8A186D9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3570BAC-FE7F-9B41-DEB3-3E4993DE993B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845537E-0ADE-EFFB-FC37-8C14AFB73202}"/>
              </a:ext>
            </a:extLst>
          </p:cNvPr>
          <p:cNvSpPr txBox="1"/>
          <p:nvPr/>
        </p:nvSpPr>
        <p:spPr>
          <a:xfrm>
            <a:off x="609600" y="4318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BFFF00"/>
                </a:solidFill>
                <a:latin typeface="Microsoft YaHei" panose="020B0503020204020204" pitchFamily="34" charset="-122"/>
              </a:rPr>
              <a:t>05 / </a:t>
            </a:r>
            <a:r>
              <a:rPr lang="zh-CN" altLang="en-US" sz="900" b="1">
                <a:solidFill>
                  <a:srgbClr val="BFFF00"/>
                </a:solidFill>
                <a:latin typeface="Microsoft YaHei" panose="020B0503020204020204" pitchFamily="34" charset="-122"/>
              </a:rPr>
              <a:t>交接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45888F4-9981-3279-B04C-336BE3EFDDE3}"/>
              </a:ext>
            </a:extLst>
          </p:cNvPr>
          <p:cNvSpPr txBox="1"/>
          <p:nvPr/>
        </p:nvSpPr>
        <p:spPr>
          <a:xfrm>
            <a:off x="609600" y="7874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200">
                <a:solidFill>
                  <a:srgbClr val="FFFFFF"/>
                </a:solidFill>
                <a:latin typeface="Microsoft YaHei" panose="020B0503020204020204" pitchFamily="34" charset="-122"/>
              </a:rPr>
              <a:t>90 </a:t>
            </a:r>
            <a:r>
              <a:rPr lang="zh-CN" altLang="en-US" sz="3200">
                <a:solidFill>
                  <a:srgbClr val="FFFFFF"/>
                </a:solidFill>
                <a:latin typeface="Microsoft YaHei" panose="020B0503020204020204" pitchFamily="34" charset="-122"/>
              </a:rPr>
              <a:t>秒讲清一次放行决策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2C6115C-BE70-9829-2EED-0CA2E351A8AD}"/>
              </a:ext>
            </a:extLst>
          </p:cNvPr>
          <p:cNvSpPr txBox="1"/>
          <p:nvPr/>
        </p:nvSpPr>
        <p:spPr>
          <a:xfrm>
            <a:off x="609600" y="14986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748FBE"/>
                </a:solidFill>
                <a:latin typeface="Microsoft YaHei" panose="020B0503020204020204" pitchFamily="34" charset="-122"/>
              </a:rPr>
              <a:t>从具体货物开始，沿着证据链走到放行或阻断。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C1AB984-033A-D27D-AA35-634860C65904}"/>
              </a:ext>
            </a:extLst>
          </p:cNvPr>
          <p:cNvSpPr txBox="1"/>
          <p:nvPr/>
        </p:nvSpPr>
        <p:spPr>
          <a:xfrm>
            <a:off x="609600" y="24892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400">
                <a:solidFill>
                  <a:srgbClr val="BFFF00"/>
                </a:solidFill>
                <a:latin typeface="Consolas" panose="020B0609020204030204" pitchFamily="49" charset="0"/>
              </a:rPr>
              <a:t>192</a:t>
            </a:r>
            <a:endParaRPr lang="zh-CN" altLang="en-US" sz="3400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E283262-DDC9-C5E3-1470-F74B4266E704}"/>
              </a:ext>
            </a:extLst>
          </p:cNvPr>
          <p:cNvSpPr txBox="1"/>
          <p:nvPr/>
        </p:nvSpPr>
        <p:spPr>
          <a:xfrm>
            <a:off x="609600" y="31750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 b="1">
                <a:solidFill>
                  <a:srgbClr val="A6B9D8"/>
                </a:solidFill>
                <a:latin typeface="Microsoft YaHei" panose="020B0503020204020204" pitchFamily="34" charset="-122"/>
              </a:rPr>
              <a:t>自测通过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A31520C-150A-56F3-843A-B330939F881B}"/>
              </a:ext>
            </a:extLst>
          </p:cNvPr>
          <p:cNvSpPr txBox="1"/>
          <p:nvPr/>
        </p:nvSpPr>
        <p:spPr>
          <a:xfrm>
            <a:off x="3276600" y="2489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400">
                <a:solidFill>
                  <a:srgbClr val="FFFFFF"/>
                </a:solidFill>
                <a:latin typeface="Consolas" panose="020B0609020204030204" pitchFamily="49" charset="0"/>
              </a:rPr>
              <a:t>7</a:t>
            </a:r>
            <a:endParaRPr lang="zh-CN" altLang="en-US" sz="34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637A202-BFF3-C409-C081-63975D2E1E45}"/>
              </a:ext>
            </a:extLst>
          </p:cNvPr>
          <p:cNvSpPr txBox="1"/>
          <p:nvPr/>
        </p:nvSpPr>
        <p:spPr>
          <a:xfrm>
            <a:off x="3276600" y="31750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A6B9D8"/>
                </a:solidFill>
                <a:latin typeface="Microsoft YaHei" panose="020B0503020204020204" pitchFamily="34" charset="-122"/>
              </a:rPr>
              <a:t>SKILLS </a:t>
            </a:r>
            <a:r>
              <a:rPr lang="zh-CN" altLang="en-US" sz="900" b="1">
                <a:solidFill>
                  <a:srgbClr val="A6B9D8"/>
                </a:solidFill>
                <a:latin typeface="Microsoft YaHei" panose="020B0503020204020204" pitchFamily="34" charset="-122"/>
              </a:rPr>
              <a:t>已注册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D21832F-E935-D71A-901B-BFB4AFED9C06}"/>
              </a:ext>
            </a:extLst>
          </p:cNvPr>
          <p:cNvSpPr txBox="1"/>
          <p:nvPr/>
        </p:nvSpPr>
        <p:spPr>
          <a:xfrm>
            <a:off x="5816600" y="24892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400">
                <a:solidFill>
                  <a:srgbClr val="FF7C1C"/>
                </a:solidFill>
                <a:latin typeface="Consolas" panose="020B0609020204030204" pitchFamily="49" charset="0"/>
              </a:rPr>
              <a:t>6</a:t>
            </a:r>
            <a:endParaRPr lang="zh-CN" altLang="en-US" sz="3400">
              <a:solidFill>
                <a:srgbClr val="FF7C1C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60D2B81-0B6C-4A1C-7CF8-CA7D9542AD99}"/>
              </a:ext>
            </a:extLst>
          </p:cNvPr>
          <p:cNvSpPr txBox="1"/>
          <p:nvPr/>
        </p:nvSpPr>
        <p:spPr>
          <a:xfrm>
            <a:off x="5816600" y="31750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 b="1">
                <a:solidFill>
                  <a:srgbClr val="A6B9D8"/>
                </a:solidFill>
                <a:latin typeface="Microsoft YaHei" panose="020B0503020204020204" pitchFamily="34" charset="-122"/>
              </a:rPr>
              <a:t>红队已阻断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A44A3BF-047A-990F-B7C5-693865F40D94}"/>
              </a:ext>
            </a:extLst>
          </p:cNvPr>
          <p:cNvCxnSpPr/>
          <p:nvPr/>
        </p:nvCxnSpPr>
        <p:spPr>
          <a:xfrm>
            <a:off x="609600" y="3987800"/>
            <a:ext cx="71374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3C99C7D-9B03-AC68-9C6B-E607034F4CCD}"/>
              </a:ext>
            </a:extLst>
          </p:cNvPr>
          <p:cNvSpPr txBox="1"/>
          <p:nvPr/>
        </p:nvSpPr>
        <p:spPr>
          <a:xfrm>
            <a:off x="609600" y="42672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 b="1">
                <a:solidFill>
                  <a:srgbClr val="BFFF00"/>
                </a:solidFill>
                <a:latin typeface="Microsoft YaHei" panose="020B0503020204020204" pitchFamily="34" charset="-122"/>
              </a:rPr>
              <a:t>运行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51B6CBA-8DA5-0BFE-03F7-54FC3A9D0CBC}"/>
              </a:ext>
            </a:extLst>
          </p:cNvPr>
          <p:cNvSpPr txBox="1"/>
          <p:nvPr/>
        </p:nvSpPr>
        <p:spPr>
          <a:xfrm>
            <a:off x="609600" y="4597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FFFFFF"/>
                </a:solidFill>
                <a:latin typeface="Consolas" panose="020B0609020204030204" pitchFamily="49" charset="0"/>
              </a:rPr>
              <a:t>npm run demo</a:t>
            </a:r>
            <a:endParaRPr lang="zh-CN" altLang="en-US" sz="16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A9836ED-CFFF-EF17-1E11-BC34E7217F91}"/>
              </a:ext>
            </a:extLst>
          </p:cNvPr>
          <p:cNvSpPr txBox="1"/>
          <p:nvPr/>
        </p:nvSpPr>
        <p:spPr>
          <a:xfrm>
            <a:off x="3810000" y="4597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FFFFFF"/>
                </a:solidFill>
                <a:latin typeface="Consolas" panose="020B0609020204030204" pitchFamily="49" charset="0"/>
              </a:rPr>
              <a:t>npm run demo:live</a:t>
            </a:r>
            <a:endParaRPr lang="zh-CN" altLang="en-US" sz="16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D1C6E2C-4523-BD19-FAE7-56AE8D6A87F3}"/>
              </a:ext>
            </a:extLst>
          </p:cNvPr>
          <p:cNvSpPr txBox="1"/>
          <p:nvPr/>
        </p:nvSpPr>
        <p:spPr>
          <a:xfrm>
            <a:off x="609600" y="50800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FFFFFF"/>
                </a:solidFill>
                <a:latin typeface="Consolas" panose="020B0609020204030204" pitchFamily="49" charset="0"/>
              </a:rPr>
              <a:t>npm run acceptance</a:t>
            </a:r>
            <a:endParaRPr lang="zh-CN" altLang="en-US" sz="16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ACE0DE3-CC73-6E2E-B583-E88C22C3EC9B}"/>
              </a:ext>
            </a:extLst>
          </p:cNvPr>
          <p:cNvSpPr txBox="1"/>
          <p:nvPr/>
        </p:nvSpPr>
        <p:spPr>
          <a:xfrm>
            <a:off x="4699000" y="50800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FFFFFF"/>
                </a:solidFill>
                <a:latin typeface="Consolas" panose="020B0609020204030204" pitchFamily="49" charset="0"/>
              </a:rPr>
              <a:t>npm test</a:t>
            </a:r>
            <a:endParaRPr lang="zh-CN" altLang="en-US" sz="16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74F55C9-906C-C4F0-3238-E83B8A2636AA}"/>
              </a:ext>
            </a:extLst>
          </p:cNvPr>
          <p:cNvSpPr/>
          <p:nvPr/>
        </p:nvSpPr>
        <p:spPr>
          <a:xfrm>
            <a:off x="8432800" y="2184400"/>
            <a:ext cx="3149600" cy="3251200"/>
          </a:xfrm>
          <a:prstGeom prst="rect">
            <a:avLst/>
          </a:prstGeom>
          <a:solidFill>
            <a:srgbClr val="417EFF"/>
          </a:solidFill>
          <a:ln w="12700">
            <a:solidFill>
              <a:srgbClr val="417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4844AE8-4A03-C893-97C4-DE714AF7FCDD}"/>
              </a:ext>
            </a:extLst>
          </p:cNvPr>
          <p:cNvSpPr txBox="1"/>
          <p:nvPr/>
        </p:nvSpPr>
        <p:spPr>
          <a:xfrm>
            <a:off x="8763000" y="25146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 b="1">
                <a:solidFill>
                  <a:srgbClr val="BFFF00"/>
                </a:solidFill>
                <a:latin typeface="Microsoft YaHei" panose="020B0503020204020204" pitchFamily="34" charset="-122"/>
              </a:rPr>
              <a:t>已验证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FA60F03-0211-96F5-DC30-246A8997C6B5}"/>
              </a:ext>
            </a:extLst>
          </p:cNvPr>
          <p:cNvSpPr txBox="1"/>
          <p:nvPr/>
        </p:nvSpPr>
        <p:spPr>
          <a:xfrm>
            <a:off x="8763000" y="29464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本地包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主流程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红队门禁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运行时控制台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0199AEFA-A656-A6DE-23FE-C1062ABFB243}"/>
              </a:ext>
            </a:extLst>
          </p:cNvPr>
          <p:cNvCxnSpPr/>
          <p:nvPr/>
        </p:nvCxnSpPr>
        <p:spPr>
          <a:xfrm>
            <a:off x="8763000" y="4419600"/>
            <a:ext cx="24384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103A7593-C70A-459E-B134-C12091AD405E}"/>
              </a:ext>
            </a:extLst>
          </p:cNvPr>
          <p:cNvSpPr txBox="1"/>
          <p:nvPr/>
        </p:nvSpPr>
        <p:spPr>
          <a:xfrm>
            <a:off x="8763000" y="46990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不在范围内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9A60742-71C1-006D-A1E3-0FF2BF7991D2}"/>
              </a:ext>
            </a:extLst>
          </p:cNvPr>
          <p:cNvSpPr txBox="1"/>
          <p:nvPr/>
        </p:nvSpPr>
        <p:spPr>
          <a:xfrm>
            <a:off x="8763000" y="50292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>
                <a:solidFill>
                  <a:srgbClr val="FFFFFF"/>
                </a:solidFill>
                <a:latin typeface="Microsoft YaHei" panose="020B0503020204020204" pitchFamily="34" charset="-122"/>
              </a:rPr>
              <a:t>WorkHub / Wesome </a:t>
            </a:r>
            <a:r>
              <a:rPr lang="zh-CN" altLang="en-US" sz="1100">
                <a:solidFill>
                  <a:srgbClr val="FFFFFF"/>
                </a:solidFill>
                <a:latin typeface="Microsoft YaHei" panose="020B0503020204020204" pitchFamily="34" charset="-122"/>
              </a:rPr>
              <a:t>发布</a:t>
            </a:r>
          </a:p>
          <a:p>
            <a:r>
              <a:rPr lang="zh-CN" altLang="en-US" sz="1100">
                <a:solidFill>
                  <a:srgbClr val="FFFFFF"/>
                </a:solidFill>
                <a:latin typeface="Microsoft YaHei" panose="020B0503020204020204" pitchFamily="34" charset="-122"/>
              </a:rPr>
              <a:t>真实货运执行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00A1559-37AE-6193-6D8C-65E18CCD9822}"/>
              </a:ext>
            </a:extLst>
          </p:cNvPr>
          <p:cNvSpPr txBox="1"/>
          <p:nvPr/>
        </p:nvSpPr>
        <p:spPr>
          <a:xfrm>
            <a:off x="609600" y="60452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>
                <a:solidFill>
                  <a:srgbClr val="748FBE"/>
                </a:solidFill>
                <a:latin typeface="Microsoft YaHei" panose="020B0503020204020204" pitchFamily="34" charset="-122"/>
              </a:rPr>
              <a:t>仅为本地演示证据 </a:t>
            </a:r>
            <a:r>
              <a:rPr lang="en-US" altLang="zh-CN" sz="900">
                <a:solidFill>
                  <a:srgbClr val="748FB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748FBE"/>
                </a:solidFill>
                <a:latin typeface="Microsoft YaHei" panose="020B0503020204020204" pitchFamily="34" charset="-122"/>
              </a:rPr>
              <a:t>未进行外部提交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DE0ABB8-6EE8-6701-155E-8191977216EB}"/>
              </a:ext>
            </a:extLst>
          </p:cNvPr>
          <p:cNvSpPr txBox="1"/>
          <p:nvPr/>
        </p:nvSpPr>
        <p:spPr>
          <a:xfrm>
            <a:off x="11049000" y="60452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BFFF00"/>
                </a:solidFill>
                <a:latin typeface="Consolas" panose="020B0609020204030204" pitchFamily="49" charset="0"/>
              </a:rPr>
              <a:t>06</a:t>
            </a:r>
            <a:endParaRPr lang="zh-CN" altLang="en-US" sz="1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142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</Words>
  <Application>Microsoft Office PowerPoint</Application>
  <PresentationFormat>自定义</PresentationFormat>
  <Paragraphs>114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Microsoft YaHei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Weilai Wang</dc:creator>
  <cp:lastModifiedBy>Weilai Wang</cp:lastModifiedBy>
  <cp:revision>1</cp:revision>
  <dcterms:created xsi:type="dcterms:W3CDTF">2026-09-18T20:21:24Z</dcterms:created>
  <dcterms:modified xsi:type="dcterms:W3CDTF">2026-09-18T20:21:24Z</dcterms:modified>
</cp:coreProperties>
</file>