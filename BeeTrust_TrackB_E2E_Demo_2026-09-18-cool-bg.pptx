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35E5C-DF81-A247-E886-165D0A4DF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524CAF-C042-871D-A4C2-F2D8888FC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7DDDB-660C-D0EB-7092-C5500E2C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88666-8727-465C-7A8B-B55977F9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C69D5B-C4B7-6952-FA25-7B61223E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6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D60E4-937F-1B94-DFA4-BDF87E28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C78E7-2040-4B52-58F2-F82BFA03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E1DD1C-17C5-6424-9C2B-B2990A45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6F0C6-148B-2BC5-A625-4B5744CC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652B64-1246-7164-C6DA-DB42F7A5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6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976B6-AB74-9B45-EC11-CB27A012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99168-BC7A-D385-43D1-6011F12C6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164F1-B71B-2341-CE3E-EB285A6B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C677E1-9CD0-7074-C071-8CA8F6DB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6EE75-3739-C5C3-0E16-75BB9B26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57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4F4B0-856C-4D8A-5482-98EEE7BC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B192D-7A21-1A8F-256D-1B0AB34CF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35D7A2-2084-6CF2-7ED3-283ABCF13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7B5608-2FB8-D0E1-CC14-EAB22B1B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578AA9-215C-099D-25CE-7E2E4BF4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394076-E8B2-5963-3FBB-E9B45434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44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C913A-9FD0-F1C2-716C-C16832C8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822786-7824-33FE-F318-7D7EFB9A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CA7D7C-A0D0-DC16-3CBB-C1324CD20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D9FFCB-9C82-422C-BEA1-F0D9F3A21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7E7D66-B482-11B5-D9C1-A17F96027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23E526-C844-7AE7-0946-803782A2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7EB1D8-EA8D-4776-A95F-32620567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AF4576-9612-3ADF-E198-612F7554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0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93749-12DA-2A4B-F13A-9D40647B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714923-6965-BCF9-0DD8-2765046F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B28CA0-BA5B-F3C2-1EB3-BAA35432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89C886-A022-FC54-58D1-D780AF02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28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EE20D6-41E5-534B-92F3-25BF8741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FEBEE9-C587-1670-698E-5C593C1E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17586D-6A27-1C52-58D8-910EFB19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33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EA575-C470-3214-0B7F-694431AF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B45237-190C-94AD-B360-29470419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35CB03-6E59-1ED4-545C-CEFA3763C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D2E3DF-627D-6EB6-B577-7CCD4392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C0F60E-5891-1E00-9FC1-6E726A74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EC6986-FC7E-4CA6-3609-B683BD1D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5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67A79-E392-7770-9428-E960B7DD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D62152-2304-F94E-1CE5-4A52D71CE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DF6B34-3229-455E-2F3F-D43F8DE05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7C5119-0BF3-F1B9-1E6A-E3712FA2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F2AD7-0E8E-A747-2C41-FA888D35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66FE0-09D2-29EB-4A05-327535D5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97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0A38D-CB43-CFA8-1068-95E03B79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11D984-FAB8-F773-190A-FFF2011E8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2F0F2C-04E5-9DCD-C14B-CC876C3E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8D522-89E9-7592-B4E6-3E1E6D48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43CC1-2FC3-9142-74B6-7ABB7384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16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370768-C192-837B-CD2F-A4CE9989B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145226-B668-2CB1-5693-DCE819A86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AC8E67-0616-FB0D-96DE-21A3C992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2DA56-4586-1263-6933-DBF70E16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2CBD9-055E-31F4-F59B-D9848BE8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0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9A01E6-2DCD-CD90-D680-297D3331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E0CE43-4E16-D241-6F5A-27B29513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8D076-BD63-7967-F4DE-7886CA8A2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6CACF-ACD6-408D-8548-7CB17A0FF35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B73DC-CBC6-5EEB-246C-831901834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DC07B-BDB1-A59F-97FB-852C767D3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7BD73-E609-48F0-BB7E-5FD0AFB2D4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78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051A4C0-918D-3135-82EF-B26F2EE0D4D4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849CC3F-E7BA-46C9-8BF9-9FA28EC631EF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D41D6E-C98F-AB12-25FA-31FE2B48668E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5A241C6-117F-D0BB-3464-08C715241C77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EAC57C9-AA92-A110-3422-68A6D2EA5515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FBF519-6CC3-25E9-94EA-EC6850F61190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728EA1-8892-D1C7-182B-BD94CDEE5A3B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0E58274-9FA9-3D6D-887D-7A8F95660B21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F986EC9-5EC7-F17A-9A3C-5FBFEAF65026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E5EEBD2-39A7-6D03-F3F3-9AC4833D413D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7DC066-69CE-F15D-78A6-36E4F23C2E8C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F2AE69C-838A-E64B-7BCC-5EE5459F7AEC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4F3A7A-3A00-4742-AADE-0033E6C31E16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7154F8-70D4-3BE3-2803-58C2CDEEB796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9A92506-3CC7-2B41-2B9C-2155D9B2F137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00B758-C7C5-980E-0D0F-0B4D5CF79418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DFF7EF6-47AA-48CD-CFC1-A1E937ABE43F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C70B17-0242-4699-7C44-B4B97205FC72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6B21D81-4D4F-DF49-072D-B7BAFF0C8D06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9CEF531-49AD-EDCB-57B5-F16F86B75E68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6287FF-500C-3E7D-CDEB-D45DE1872146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2B63145-8B8C-FA3C-620A-B32E2D7F8428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D0A9631-671C-1F7C-3232-A8E757606AEB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48C2D83-F8E1-6E5A-55A7-D90D3EEA2497}"/>
              </a:ext>
            </a:extLst>
          </p:cNvPr>
          <p:cNvSpPr/>
          <p:nvPr/>
        </p:nvSpPr>
        <p:spPr>
          <a:xfrm>
            <a:off x="609600" y="558800"/>
            <a:ext cx="101600" cy="1600200"/>
          </a:xfrm>
          <a:prstGeom prst="rect">
            <a:avLst/>
          </a:prstGeom>
          <a:solidFill>
            <a:srgbClr val="BFFF00"/>
          </a:solidFill>
          <a:ln w="12700">
            <a:solidFill>
              <a:srgbClr val="B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065DDE-0AD3-47DA-E713-AEB9B72B4200}"/>
              </a:ext>
            </a:extLst>
          </p:cNvPr>
          <p:cNvSpPr txBox="1"/>
          <p:nvPr/>
        </p:nvSpPr>
        <p:spPr>
          <a:xfrm>
            <a:off x="1041400" y="635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Arial" panose="020B0604020202020204" pitchFamily="34" charset="0"/>
              </a:rPr>
              <a:t>BEETRUST / TRACK B / SP-A</a:t>
            </a:r>
            <a:endParaRPr lang="zh-CN" altLang="en-US" sz="10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2354E8-E1CC-F58E-7170-4BC442A09A5C}"/>
              </a:ext>
            </a:extLst>
          </p:cNvPr>
          <p:cNvSpPr txBox="1"/>
          <p:nvPr/>
        </p:nvSpPr>
        <p:spPr>
          <a:xfrm>
            <a:off x="1041400" y="144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600">
                <a:solidFill>
                  <a:srgbClr val="FFFFFF"/>
                </a:solidFill>
                <a:latin typeface="Arial" panose="020B0604020202020204" pitchFamily="34" charset="0"/>
              </a:rPr>
              <a:t>Evidence first.</a:t>
            </a:r>
            <a:endParaRPr lang="zh-CN" altLang="en-US" sz="4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671E1E-B0DB-9C62-FC82-5E17316AADE4}"/>
              </a:ext>
            </a:extLst>
          </p:cNvPr>
          <p:cNvSpPr txBox="1"/>
          <p:nvPr/>
        </p:nvSpPr>
        <p:spPr>
          <a:xfrm>
            <a:off x="1041400" y="2209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600">
                <a:solidFill>
                  <a:srgbClr val="FFFFFF"/>
                </a:solidFill>
                <a:latin typeface="Arial" panose="020B0604020202020204" pitchFamily="34" charset="0"/>
              </a:rPr>
              <a:t>Release second.</a:t>
            </a:r>
            <a:endParaRPr lang="zh-CN" altLang="en-US" sz="4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4FE51A-8871-99E9-C34C-187775E4B98D}"/>
              </a:ext>
            </a:extLst>
          </p:cNvPr>
          <p:cNvSpPr txBox="1"/>
          <p:nvPr/>
        </p:nvSpPr>
        <p:spPr>
          <a:xfrm>
            <a:off x="1066800" y="36068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600">
                <a:solidFill>
                  <a:srgbClr val="748FBE"/>
                </a:solidFill>
                <a:latin typeface="Arial" panose="020B0604020202020204" pitchFamily="34" charset="0"/>
              </a:rPr>
              <a:t>A local proof of collaborative Skills orchestration for a New Zealand MÄnuka honey export case.</a:t>
            </a:r>
            <a:endParaRPr lang="zh-CN" altLang="en-US" sz="16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E05DBA-4AE8-C8AA-14C5-B53D815663A4}"/>
              </a:ext>
            </a:extLst>
          </p:cNvPr>
          <p:cNvSpPr/>
          <p:nvPr/>
        </p:nvSpPr>
        <p:spPr>
          <a:xfrm>
            <a:off x="8737600" y="1346200"/>
            <a:ext cx="2844800" cy="2768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F36482B-69EF-1631-0202-C883FE3ED22C}"/>
              </a:ext>
            </a:extLst>
          </p:cNvPr>
          <p:cNvSpPr txBox="1"/>
          <p:nvPr/>
        </p:nvSpPr>
        <p:spPr>
          <a:xfrm>
            <a:off x="9093200" y="175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RELEASE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DDE9FF-9783-B6C4-7FF4-44B7CCD7315F}"/>
              </a:ext>
            </a:extLst>
          </p:cNvPr>
          <p:cNvSpPr txBox="1"/>
          <p:nvPr/>
        </p:nvSpPr>
        <p:spPr>
          <a:xfrm>
            <a:off x="9017000" y="2260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6600">
                <a:solidFill>
                  <a:srgbClr val="FFFFFF"/>
                </a:solidFill>
                <a:latin typeface="Consolas" panose="020B0609020204030204" pitchFamily="49" charset="0"/>
              </a:rPr>
              <a:t>100</a:t>
            </a:r>
            <a:endParaRPr lang="zh-CN" altLang="en-US" sz="66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6B32D99-6833-59D8-8A1F-CCC9EEDC0F8B}"/>
              </a:ext>
            </a:extLst>
          </p:cNvPr>
          <p:cNvSpPr txBox="1"/>
          <p:nvPr/>
        </p:nvSpPr>
        <p:spPr>
          <a:xfrm>
            <a:off x="10388600" y="29972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BFFF00"/>
                </a:solidFill>
                <a:latin typeface="Consolas" panose="020B0609020204030204" pitchFamily="49" charset="0"/>
              </a:rPr>
              <a:t>/100</a:t>
            </a:r>
            <a:endParaRPr lang="zh-CN" altLang="en-US" sz="2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F62ED2-D557-26A4-EDD4-C0B81E9F11CC}"/>
              </a:ext>
            </a:extLst>
          </p:cNvPr>
          <p:cNvSpPr txBox="1"/>
          <p:nvPr/>
        </p:nvSpPr>
        <p:spPr>
          <a:xfrm>
            <a:off x="9093200" y="3581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  <a:t>local runtime evidence</a:t>
            </a:r>
            <a:endParaRPr lang="zh-CN" altLang="en-US" sz="1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E6BCFF9-08F0-D3D2-A4E0-5F00EE8B869C}"/>
              </a:ext>
            </a:extLst>
          </p:cNvPr>
          <p:cNvSpPr txBox="1"/>
          <p:nvPr/>
        </p:nvSpPr>
        <p:spPr>
          <a:xfrm>
            <a:off x="1066800" y="57658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900">
                <a:solidFill>
                  <a:srgbClr val="748FBE"/>
                </a:solidFill>
                <a:latin typeface="Arial" panose="020B0604020202020204" pitchFamily="34" charset="0"/>
              </a:rPr>
              <a:t>Synthetic case / no external submission performed</a:t>
            </a:r>
            <a:endParaRPr lang="zh-CN" altLang="en-US" sz="9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82408A8-DC04-012A-4D73-C9484C5378B0}"/>
              </a:ext>
            </a:extLst>
          </p:cNvPr>
          <p:cNvSpPr txBox="1"/>
          <p:nvPr/>
        </p:nvSpPr>
        <p:spPr>
          <a:xfrm>
            <a:off x="11049000" y="5765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01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21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2E0CBFB-25B2-EE4A-970C-B1066B97C781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B894D9C-31DA-B477-B12A-C0D296A967CE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E611CC9-919C-4891-DC81-BFC530C816DA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FC22584-7A44-40A3-20FA-D9C5E25C8A46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BC1B87D-0F1F-7AB2-7052-21CCAC84D722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F9A7876-AA77-A30F-3295-D5E9BCA2274D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B1FD6D-7E1D-EA33-687A-4B26460AE232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BCF9D1E-9ECF-3952-FF9E-8EAF105DCE2D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776839-2507-CA09-A0C9-52305490499B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BC4C055-45D9-EF96-0E2E-C53A9675F51E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D71382B-18A1-1FA0-1B0D-A529603E9C04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09E359A-6B9D-AE1E-825C-F628A934BC13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F113827-56CC-305C-8ABB-AEE4F2D93176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7CA31CA-B06F-6942-4E03-C50F62EEDA01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32FFAAF-44D2-82B6-1CE7-30F04BCB9DEF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8586351-80FD-F5C8-0239-B463DA74D3C3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1329074-12F3-6581-5D87-AB4ACE0BB8BF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377506A-4D99-FC7B-DD91-6CBCA1E58F7B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2028801-0954-E2C0-F718-F6083E303FA3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43A960D-6174-0CC8-BDD8-98F439330C6A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51AE54-D511-6277-368A-A06156E5231F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E717CB-A119-6A58-CCDE-10D357E95C92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17DD97C-3151-9EA4-D991-5F3D5E4D1141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EABC456-DC55-CE83-FFF2-25CB84C06D8E}"/>
              </a:ext>
            </a:extLst>
          </p:cNvPr>
          <p:cNvSpPr txBox="1"/>
          <p:nvPr/>
        </p:nvSpPr>
        <p:spPr>
          <a:xfrm>
            <a:off x="609600" y="406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Arial" panose="020B0604020202020204" pitchFamily="34" charset="0"/>
              </a:rPr>
              <a:t>01 / CASE</a:t>
            </a:r>
            <a:endParaRPr lang="zh-CN" altLang="en-US" sz="900" b="1">
              <a:solidFill>
                <a:srgbClr val="417E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DCDD5B-A15E-1DC7-6F5A-8F31D021A3EE}"/>
              </a:ext>
            </a:extLst>
          </p:cNvPr>
          <p:cNvSpPr txBox="1"/>
          <p:nvPr/>
        </p:nvSpPr>
        <p:spPr>
          <a:xfrm>
            <a:off x="609600" y="1219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F4F8FF"/>
                </a:solidFill>
                <a:latin typeface="Arial" panose="020B0604020202020204" pitchFamily="34" charset="0"/>
              </a:rPr>
              <a:t>One shipment.</a:t>
            </a:r>
            <a:endParaRPr lang="zh-CN" altLang="en-US" sz="4200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FE1B4B-1ED6-0A3D-8797-653D6BD2ABF3}"/>
              </a:ext>
            </a:extLst>
          </p:cNvPr>
          <p:cNvSpPr txBox="1"/>
          <p:nvPr/>
        </p:nvSpPr>
        <p:spPr>
          <a:xfrm>
            <a:off x="609600" y="1955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F4F8FF"/>
                </a:solidFill>
                <a:latin typeface="Arial" panose="020B0604020202020204" pitchFamily="34" charset="0"/>
              </a:rPr>
              <a:t>Five gates.</a:t>
            </a:r>
            <a:endParaRPr lang="zh-CN" altLang="en-US" sz="4200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CA6F43-B839-6AAE-9C50-B2AF3B836CC4}"/>
              </a:ext>
            </a:extLst>
          </p:cNvPr>
          <p:cNvSpPr txBox="1"/>
          <p:nvPr/>
        </p:nvSpPr>
        <p:spPr>
          <a:xfrm>
            <a:off x="609600" y="2692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417EFF"/>
                </a:solidFill>
                <a:latin typeface="Arial" panose="020B0604020202020204" pitchFamily="34" charset="0"/>
              </a:rPr>
              <a:t>One decision.</a:t>
            </a:r>
            <a:endParaRPr lang="zh-CN" altLang="en-US" sz="4200">
              <a:solidFill>
                <a:srgbClr val="417EFF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E62A5CF-1998-48F8-B935-FFCAA934F6DA}"/>
              </a:ext>
            </a:extLst>
          </p:cNvPr>
          <p:cNvCxnSpPr/>
          <p:nvPr/>
        </p:nvCxnSpPr>
        <p:spPr>
          <a:xfrm>
            <a:off x="609600" y="3886200"/>
            <a:ext cx="5740400" cy="0"/>
          </a:xfrm>
          <a:prstGeom prst="line">
            <a:avLst/>
          </a:prstGeom>
          <a:ln w="17780">
            <a:solidFill>
              <a:srgbClr val="F4F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D2DFD02-1DC7-27CB-AC98-E4C0AFF0EBA0}"/>
              </a:ext>
            </a:extLst>
          </p:cNvPr>
          <p:cNvSpPr txBox="1"/>
          <p:nvPr/>
        </p:nvSpPr>
        <p:spPr>
          <a:xfrm>
            <a:off x="609600" y="4165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SYNTHETIC CASE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1FE523-AC1E-E791-8F24-A75C8F62ECBC}"/>
              </a:ext>
            </a:extLst>
          </p:cNvPr>
          <p:cNvSpPr txBox="1"/>
          <p:nvPr/>
        </p:nvSpPr>
        <p:spPr>
          <a:xfrm>
            <a:off x="609600" y="4470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700" b="1">
                <a:solidFill>
                  <a:srgbClr val="F4F8FF"/>
                </a:solidFill>
                <a:latin typeface="Arial" panose="020B0604020202020204" pitchFamily="34" charset="0"/>
              </a:rPr>
              <a:t>1,000 jars of New Zealand MÄnuka honey</a:t>
            </a:r>
            <a:endParaRPr lang="zh-CN" altLang="en-US" sz="17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C01D56B-C120-6B50-8389-88E40CF02253}"/>
              </a:ext>
            </a:extLst>
          </p:cNvPr>
          <p:cNvSpPr txBox="1"/>
          <p:nvPr/>
        </p:nvSpPr>
        <p:spPr>
          <a:xfrm>
            <a:off x="609600" y="487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A6B9D8"/>
                </a:solidFill>
                <a:latin typeface="Arial" panose="020B0604020202020204" pitchFamily="34" charset="0"/>
              </a:rPr>
              <a:t>Destination: Australia</a:t>
            </a:r>
            <a:endParaRPr lang="zh-CN" altLang="en-US" sz="13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B5B192-F793-942A-AD0C-4B474A77D4A5}"/>
              </a:ext>
            </a:extLst>
          </p:cNvPr>
          <p:cNvSpPr/>
          <p:nvPr/>
        </p:nvSpPr>
        <p:spPr>
          <a:xfrm>
            <a:off x="7493000" y="812800"/>
            <a:ext cx="4089400" cy="4902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61F019-3B32-E599-0BC0-E526C436A48D}"/>
              </a:ext>
            </a:extLst>
          </p:cNvPr>
          <p:cNvSpPr txBox="1"/>
          <p:nvPr/>
        </p:nvSpPr>
        <p:spPr>
          <a:xfrm>
            <a:off x="7874000" y="1168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Arial" panose="020B0604020202020204" pitchFamily="34" charset="0"/>
              </a:rPr>
              <a:t>BASELINE GATES</a:t>
            </a:r>
            <a:endParaRPr lang="zh-CN" altLang="en-US" sz="10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8DBB16-5AC0-91B9-8102-C2ECAB3DECE8}"/>
              </a:ext>
            </a:extLst>
          </p:cNvPr>
          <p:cNvCxnSpPr/>
          <p:nvPr/>
        </p:nvCxnSpPr>
        <p:spPr>
          <a:xfrm>
            <a:off x="7874000" y="17272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B0CF97B-99BC-106C-9278-50D3E8471159}"/>
              </a:ext>
            </a:extLst>
          </p:cNvPr>
          <p:cNvSpPr txBox="1"/>
          <p:nvPr/>
        </p:nvSpPr>
        <p:spPr>
          <a:xfrm>
            <a:off x="78740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Scientific fingerprint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9662F1-E623-2504-CC1F-0AAEC7F3403C}"/>
              </a:ext>
            </a:extLst>
          </p:cNvPr>
          <p:cNvSpPr txBox="1"/>
          <p:nvPr/>
        </p:nvSpPr>
        <p:spPr>
          <a:xfrm>
            <a:off x="10515600" y="18796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D0ADC25-F69E-E979-B02D-5532CB886523}"/>
              </a:ext>
            </a:extLst>
          </p:cNvPr>
          <p:cNvCxnSpPr/>
          <p:nvPr/>
        </p:nvCxnSpPr>
        <p:spPr>
          <a:xfrm>
            <a:off x="7874000" y="23495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6434B73-3F3E-0A99-8734-1F2A886D7A3E}"/>
              </a:ext>
            </a:extLst>
          </p:cNvPr>
          <p:cNvSpPr txBox="1"/>
          <p:nvPr/>
        </p:nvSpPr>
        <p:spPr>
          <a:xfrm>
            <a:off x="7874000" y="2501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Chain of custody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4C4F82C-549E-D2D1-E6CD-C6C0FEB4C514}"/>
              </a:ext>
            </a:extLst>
          </p:cNvPr>
          <p:cNvSpPr txBox="1"/>
          <p:nvPr/>
        </p:nvSpPr>
        <p:spPr>
          <a:xfrm>
            <a:off x="10515600" y="2501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DF48E84-A263-E08F-9813-0102D86B5804}"/>
              </a:ext>
            </a:extLst>
          </p:cNvPr>
          <p:cNvCxnSpPr/>
          <p:nvPr/>
        </p:nvCxnSpPr>
        <p:spPr>
          <a:xfrm>
            <a:off x="7874000" y="29718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CB0F731-5546-F5B7-1F23-939C3B8ABA55}"/>
              </a:ext>
            </a:extLst>
          </p:cNvPr>
          <p:cNvSpPr txBox="1"/>
          <p:nvPr/>
        </p:nvSpPr>
        <p:spPr>
          <a:xfrm>
            <a:off x="7874000" y="3124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MPI market access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A8D9483-B9AF-7708-7A42-449B8D0BF71B}"/>
              </a:ext>
            </a:extLst>
          </p:cNvPr>
          <p:cNvSpPr txBox="1"/>
          <p:nvPr/>
        </p:nvSpPr>
        <p:spPr>
          <a:xfrm>
            <a:off x="10515600" y="3124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30895EC-F65A-95D5-0138-12DC1F5F7B86}"/>
              </a:ext>
            </a:extLst>
          </p:cNvPr>
          <p:cNvCxnSpPr/>
          <p:nvPr/>
        </p:nvCxnSpPr>
        <p:spPr>
          <a:xfrm>
            <a:off x="7874000" y="35941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CF8F214-5681-32FE-BA91-4F04563E0C53}"/>
              </a:ext>
            </a:extLst>
          </p:cNvPr>
          <p:cNvSpPr txBox="1"/>
          <p:nvPr/>
        </p:nvSpPr>
        <p:spPr>
          <a:xfrm>
            <a:off x="7874000" y="3746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Customs clearance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12C44DE-6545-3ADD-E5C4-37EB41C9E556}"/>
              </a:ext>
            </a:extLst>
          </p:cNvPr>
          <p:cNvSpPr txBox="1"/>
          <p:nvPr/>
        </p:nvSpPr>
        <p:spPr>
          <a:xfrm>
            <a:off x="10515600" y="3746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09CF7FD-A188-B78F-0195-0794A800D9BF}"/>
              </a:ext>
            </a:extLst>
          </p:cNvPr>
          <p:cNvCxnSpPr/>
          <p:nvPr/>
        </p:nvCxnSpPr>
        <p:spPr>
          <a:xfrm>
            <a:off x="7874000" y="42164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3200F5DA-2E9B-CFF1-2C99-3392EAD97BEF}"/>
              </a:ext>
            </a:extLst>
          </p:cNvPr>
          <p:cNvSpPr txBox="1"/>
          <p:nvPr/>
        </p:nvSpPr>
        <p:spPr>
          <a:xfrm>
            <a:off x="7874000" y="4368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</a:rPr>
              <a:t>Adversarial stress</a:t>
            </a:r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54B26A0-1AC3-4DFA-566F-81DBA161C4E5}"/>
              </a:ext>
            </a:extLst>
          </p:cNvPr>
          <p:cNvSpPr txBox="1"/>
          <p:nvPr/>
        </p:nvSpPr>
        <p:spPr>
          <a:xfrm>
            <a:off x="10515600" y="4368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PASS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5A4315B-EE02-051D-BBB0-9109C5EFF527}"/>
              </a:ext>
            </a:extLst>
          </p:cNvPr>
          <p:cNvCxnSpPr/>
          <p:nvPr/>
        </p:nvCxnSpPr>
        <p:spPr>
          <a:xfrm>
            <a:off x="7874000" y="49530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38DB122-3137-4216-160D-736FDECDF544}"/>
              </a:ext>
            </a:extLst>
          </p:cNvPr>
          <p:cNvSpPr txBox="1"/>
          <p:nvPr/>
        </p:nvSpPr>
        <p:spPr>
          <a:xfrm>
            <a:off x="7874000" y="518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RELEASE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DA79652-0A3B-9A49-1EDD-C80A07CD6686}"/>
              </a:ext>
            </a:extLst>
          </p:cNvPr>
          <p:cNvSpPr txBox="1"/>
          <p:nvPr/>
        </p:nvSpPr>
        <p:spPr>
          <a:xfrm>
            <a:off x="9829800" y="51816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700" b="1">
                <a:solidFill>
                  <a:srgbClr val="BFFF00"/>
                </a:solidFill>
                <a:latin typeface="Consolas" panose="020B0609020204030204" pitchFamily="49" charset="0"/>
              </a:rPr>
              <a:t>100 / 100</a:t>
            </a:r>
            <a:endParaRPr lang="zh-CN" altLang="en-US" sz="17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D543B5A-4D97-F0AB-EE69-86A5A23C20A8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E1522D9-9DC5-C2C2-7117-841063115E75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Arial" panose="020B0604020202020204" pitchFamily="34" charset="0"/>
              </a:rPr>
              <a:t>BEETRUST / LOCAL E2E / 18 SEP 2026</a:t>
            </a:r>
            <a:endParaRPr lang="zh-CN" altLang="en-US" sz="8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DC2E682-D5F0-B30B-7FE9-ECC8C56E1A97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02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4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CBB5F3E-D46E-E670-C572-ED6C2CF58D96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A4658E9-65F9-9D4B-B6EE-2E3BA10696BD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7568BFD-EE7A-9F57-ABAF-2564D0A06D73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AF8FFFA-BF90-E9A9-76A3-047A5309E654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E22F7DB-0E8F-3451-57C5-48FFFBEE169F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F3042CC-C8BF-EF4F-B36B-50852472E53B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38AAD2-941E-EBF6-0D8A-B60B32C04322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207DBF0-D2D9-193E-C986-B0046478B791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80C9B55-C2DC-07FB-F2DF-E15D1773B652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CF611B-7D03-46CC-23FE-1D664229AEBA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B49221F-12D1-463E-FBDB-92163E5E1A21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4A5636-63CC-9BF8-DB8C-F38A14FC98D0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5A8E8B3-FBB0-8695-E9A7-62D16792D162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369B54-454D-65FA-0E33-E0B4FBC8C7C6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D8B516E-2CDE-27B2-58B1-7776626398A3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D334EE5-C0CD-386A-7C02-95DEA2519914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B0A75BE-45DD-CB6F-3940-CCE192F8C86B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9AA4BEB-26B2-C095-438C-DE055DA0B7C1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B551615-BB3C-C71C-D1B8-2D3D5F740760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24B0493-8FEE-AE77-7E81-BC9B50FE18BE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45708E4-1B8D-18C0-232D-DE1E5D09AD48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9A68185-3361-6249-4FDD-5CE38527BAC6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32A07DE-A130-2D7F-CAC3-B0635F6D4AD6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3D77C21-E73C-3F8B-BC3D-A094750CDE74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Arial" panose="020B0604020202020204" pitchFamily="34" charset="0"/>
              </a:rPr>
              <a:t>02 / ORCHESTRATION</a:t>
            </a:r>
            <a:endParaRPr lang="zh-CN" altLang="en-US" sz="900" b="1">
              <a:solidFill>
                <a:srgbClr val="417E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4E0A1D-0030-5787-BDDF-CC4F3C726B22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4F8FF"/>
                </a:solidFill>
                <a:latin typeface="Arial" panose="020B0604020202020204" pitchFamily="34" charset="0"/>
              </a:rPr>
              <a:t>The workflow is a graph, not a chatbot</a:t>
            </a:r>
            <a:endParaRPr lang="zh-CN" altLang="en-US" sz="2900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070849-6FCF-1FE5-9A2D-F7C1B103AFA3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A6B9D8"/>
                </a:solidFill>
                <a:latin typeface="Arial" panose="020B0604020202020204" pitchFamily="34" charset="0"/>
              </a:rPr>
              <a:t>Parallel evidence roots merge into operational clearance, adversarial checks and final monitoring</a:t>
            </a:r>
            <a:endParaRPr lang="zh-CN" altLang="en-US" sz="12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1F5FEA8-FF9E-91A4-2BB5-2169A66467F9}"/>
              </a:ext>
            </a:extLst>
          </p:cNvPr>
          <p:cNvCxnSpPr/>
          <p:nvPr/>
        </p:nvCxnSpPr>
        <p:spPr>
          <a:xfrm>
            <a:off x="21336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EF24246-52B8-6E44-B2CD-AEDA6F050EE9}"/>
              </a:ext>
            </a:extLst>
          </p:cNvPr>
          <p:cNvCxnSpPr/>
          <p:nvPr/>
        </p:nvCxnSpPr>
        <p:spPr>
          <a:xfrm>
            <a:off x="42418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37D15CB-7C05-2199-01C2-80050372E29D}"/>
              </a:ext>
            </a:extLst>
          </p:cNvPr>
          <p:cNvCxnSpPr/>
          <p:nvPr/>
        </p:nvCxnSpPr>
        <p:spPr>
          <a:xfrm>
            <a:off x="63500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2A515D0-CC73-19B7-E9BE-AC0844A6B7D8}"/>
              </a:ext>
            </a:extLst>
          </p:cNvPr>
          <p:cNvCxnSpPr/>
          <p:nvPr/>
        </p:nvCxnSpPr>
        <p:spPr>
          <a:xfrm>
            <a:off x="21336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140133B-73E8-ABF1-31AD-32CA9247C197}"/>
              </a:ext>
            </a:extLst>
          </p:cNvPr>
          <p:cNvCxnSpPr/>
          <p:nvPr/>
        </p:nvCxnSpPr>
        <p:spPr>
          <a:xfrm>
            <a:off x="63500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A0DD217-1047-6BCA-3483-1E96DD0686A5}"/>
              </a:ext>
            </a:extLst>
          </p:cNvPr>
          <p:cNvCxnSpPr/>
          <p:nvPr/>
        </p:nvCxnSpPr>
        <p:spPr>
          <a:xfrm>
            <a:off x="4241800" y="54102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557D17A-7303-53B8-1F1E-89AA477F0C28}"/>
              </a:ext>
            </a:extLst>
          </p:cNvPr>
          <p:cNvSpPr/>
          <p:nvPr/>
        </p:nvSpPr>
        <p:spPr>
          <a:xfrm>
            <a:off x="9652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A04F87-C05E-0352-947B-0B8627EF8433}"/>
              </a:ext>
            </a:extLst>
          </p:cNvPr>
          <p:cNvSpPr/>
          <p:nvPr/>
        </p:nvSpPr>
        <p:spPr>
          <a:xfrm>
            <a:off x="9652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1874F5-52D5-7667-7485-B4631411A426}"/>
              </a:ext>
            </a:extLst>
          </p:cNvPr>
          <p:cNvSpPr txBox="1"/>
          <p:nvPr/>
        </p:nvSpPr>
        <p:spPr>
          <a:xfrm>
            <a:off x="12446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01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5BC8C6B-9A07-D2EC-0378-AFDA1CA648C8}"/>
              </a:ext>
            </a:extLst>
          </p:cNvPr>
          <p:cNvSpPr txBox="1"/>
          <p:nvPr/>
        </p:nvSpPr>
        <p:spPr>
          <a:xfrm>
            <a:off x="17018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Fingerprint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234D413-0670-0938-530D-5CE60C931976}"/>
              </a:ext>
            </a:extLst>
          </p:cNvPr>
          <p:cNvSpPr txBox="1"/>
          <p:nvPr/>
        </p:nvSpPr>
        <p:spPr>
          <a:xfrm>
            <a:off x="17018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lab reference check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766546-AD4D-B23A-2ED8-B96F5D6B130E}"/>
              </a:ext>
            </a:extLst>
          </p:cNvPr>
          <p:cNvSpPr/>
          <p:nvPr/>
        </p:nvSpPr>
        <p:spPr>
          <a:xfrm>
            <a:off x="30734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045BF5F-9458-3A98-922A-42FF4D337E63}"/>
              </a:ext>
            </a:extLst>
          </p:cNvPr>
          <p:cNvSpPr/>
          <p:nvPr/>
        </p:nvSpPr>
        <p:spPr>
          <a:xfrm>
            <a:off x="30734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0EEAB9-DA93-9A02-07EE-B8E8E8ED8096}"/>
              </a:ext>
            </a:extLst>
          </p:cNvPr>
          <p:cNvSpPr txBox="1"/>
          <p:nvPr/>
        </p:nvSpPr>
        <p:spPr>
          <a:xfrm>
            <a:off x="33528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02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EFFFCBD-C59D-B729-1496-0D0AFBE61882}"/>
              </a:ext>
            </a:extLst>
          </p:cNvPr>
          <p:cNvSpPr txBox="1"/>
          <p:nvPr/>
        </p:nvSpPr>
        <p:spPr>
          <a:xfrm>
            <a:off x="38100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Custody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1CB5A85-A1FD-0704-0390-1CE75079ECD5}"/>
              </a:ext>
            </a:extLst>
          </p:cNvPr>
          <p:cNvSpPr txBox="1"/>
          <p:nvPr/>
        </p:nvSpPr>
        <p:spPr>
          <a:xfrm>
            <a:off x="38100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hash-chain verification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499FCFF-41B3-D156-9B3B-74C4153C0224}"/>
              </a:ext>
            </a:extLst>
          </p:cNvPr>
          <p:cNvSpPr/>
          <p:nvPr/>
        </p:nvSpPr>
        <p:spPr>
          <a:xfrm>
            <a:off x="51816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B287402-145E-F1A4-B5BE-0015C0C333EE}"/>
              </a:ext>
            </a:extLst>
          </p:cNvPr>
          <p:cNvSpPr/>
          <p:nvPr/>
        </p:nvSpPr>
        <p:spPr>
          <a:xfrm>
            <a:off x="51816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8F3726-AED0-2A86-8980-6A64A15C4DFA}"/>
              </a:ext>
            </a:extLst>
          </p:cNvPr>
          <p:cNvSpPr txBox="1"/>
          <p:nvPr/>
        </p:nvSpPr>
        <p:spPr>
          <a:xfrm>
            <a:off x="54610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03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F2DAF36-C15C-BC48-59EF-83411CF65478}"/>
              </a:ext>
            </a:extLst>
          </p:cNvPr>
          <p:cNvSpPr txBox="1"/>
          <p:nvPr/>
        </p:nvSpPr>
        <p:spPr>
          <a:xfrm>
            <a:off x="59182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MPI access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7D9C43E-0D2E-02F7-6757-F24541CD2FFE}"/>
              </a:ext>
            </a:extLst>
          </p:cNvPr>
          <p:cNvSpPr txBox="1"/>
          <p:nvPr/>
        </p:nvSpPr>
        <p:spPr>
          <a:xfrm>
            <a:off x="59182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destination rule snapshot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3A7D9C1-3097-8CE5-1FB1-0C3F734576A4}"/>
              </a:ext>
            </a:extLst>
          </p:cNvPr>
          <p:cNvSpPr/>
          <p:nvPr/>
        </p:nvSpPr>
        <p:spPr>
          <a:xfrm>
            <a:off x="30734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DC5145A-63A1-8026-EDDF-1E0326867D55}"/>
              </a:ext>
            </a:extLst>
          </p:cNvPr>
          <p:cNvSpPr/>
          <p:nvPr/>
        </p:nvSpPr>
        <p:spPr>
          <a:xfrm>
            <a:off x="3073400" y="3683000"/>
            <a:ext cx="101600" cy="863600"/>
          </a:xfrm>
          <a:prstGeom prst="rect">
            <a:avLst/>
          </a:prstGeom>
          <a:solidFill>
            <a:srgbClr val="FFE400"/>
          </a:solidFill>
          <a:ln w="12700">
            <a:solidFill>
              <a:srgbClr val="FFE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E1BDCC-886D-035F-997E-DF7622823E56}"/>
              </a:ext>
            </a:extLst>
          </p:cNvPr>
          <p:cNvSpPr txBox="1"/>
          <p:nvPr/>
        </p:nvSpPr>
        <p:spPr>
          <a:xfrm>
            <a:off x="33528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E400"/>
                </a:solidFill>
                <a:latin typeface="Consolas" panose="020B0609020204030204" pitchFamily="49" charset="0"/>
              </a:rPr>
              <a:t>04</a:t>
            </a:r>
            <a:endParaRPr lang="zh-CN" altLang="en-US" sz="1200" b="1">
              <a:solidFill>
                <a:srgbClr val="FFE4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F16857D-A589-D1FA-224A-1DF21A066E5C}"/>
              </a:ext>
            </a:extLst>
          </p:cNvPr>
          <p:cNvSpPr txBox="1"/>
          <p:nvPr/>
        </p:nvSpPr>
        <p:spPr>
          <a:xfrm>
            <a:off x="38100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Customs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CD2BAA4-60C6-AFFC-27CB-E3EA76AA44BB}"/>
              </a:ext>
            </a:extLst>
          </p:cNvPr>
          <p:cNvSpPr txBox="1"/>
          <p:nvPr/>
        </p:nvSpPr>
        <p:spPr>
          <a:xfrm>
            <a:off x="38100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documents + landed cost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461A067-AC63-60EC-BF33-F42010181F53}"/>
              </a:ext>
            </a:extLst>
          </p:cNvPr>
          <p:cNvSpPr/>
          <p:nvPr/>
        </p:nvSpPr>
        <p:spPr>
          <a:xfrm>
            <a:off x="72898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C3D1DEF-319D-2F77-3362-C9C7C952A805}"/>
              </a:ext>
            </a:extLst>
          </p:cNvPr>
          <p:cNvSpPr/>
          <p:nvPr/>
        </p:nvSpPr>
        <p:spPr>
          <a:xfrm>
            <a:off x="7289800" y="3683000"/>
            <a:ext cx="101600" cy="863600"/>
          </a:xfrm>
          <a:prstGeom prst="rect">
            <a:avLst/>
          </a:prstGeom>
          <a:solidFill>
            <a:srgbClr val="FF7C1C"/>
          </a:solidFill>
          <a:ln w="12700">
            <a:solidFill>
              <a:srgbClr val="FF7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2B8C451-7F40-3530-D201-7F2B55E015A7}"/>
              </a:ext>
            </a:extLst>
          </p:cNvPr>
          <p:cNvSpPr txBox="1"/>
          <p:nvPr/>
        </p:nvSpPr>
        <p:spPr>
          <a:xfrm>
            <a:off x="75692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7C1C"/>
                </a:solidFill>
                <a:latin typeface="Consolas" panose="020B0609020204030204" pitchFamily="49" charset="0"/>
              </a:rPr>
              <a:t>05</a:t>
            </a:r>
            <a:endParaRPr lang="zh-CN" altLang="en-US" sz="1200" b="1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8538781-D9A2-CA05-60C4-90EB3C3DC2D3}"/>
              </a:ext>
            </a:extLst>
          </p:cNvPr>
          <p:cNvSpPr txBox="1"/>
          <p:nvPr/>
        </p:nvSpPr>
        <p:spPr>
          <a:xfrm>
            <a:off x="80264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Adversary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4483BA8-5B38-7133-6A78-81EEB9B4514F}"/>
              </a:ext>
            </a:extLst>
          </p:cNvPr>
          <p:cNvSpPr txBox="1"/>
          <p:nvPr/>
        </p:nvSpPr>
        <p:spPr>
          <a:xfrm>
            <a:off x="80264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six controlled faults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C77CE88-0910-E817-D28E-FA9FE16180DE}"/>
              </a:ext>
            </a:extLst>
          </p:cNvPr>
          <p:cNvSpPr/>
          <p:nvPr/>
        </p:nvSpPr>
        <p:spPr>
          <a:xfrm>
            <a:off x="5181600" y="52832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DF7F45A-C78B-E567-5D6B-7963851959EF}"/>
              </a:ext>
            </a:extLst>
          </p:cNvPr>
          <p:cNvSpPr/>
          <p:nvPr/>
        </p:nvSpPr>
        <p:spPr>
          <a:xfrm>
            <a:off x="5181600" y="5283200"/>
            <a:ext cx="101600" cy="863600"/>
          </a:xfrm>
          <a:prstGeom prst="rect">
            <a:avLst/>
          </a:prstGeom>
          <a:solidFill>
            <a:srgbClr val="12AE6F"/>
          </a:solidFill>
          <a:ln w="12700">
            <a:solidFill>
              <a:srgbClr val="12A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46127C4-3DEC-4215-031E-E1B088E9CF2B}"/>
              </a:ext>
            </a:extLst>
          </p:cNvPr>
          <p:cNvSpPr txBox="1"/>
          <p:nvPr/>
        </p:nvSpPr>
        <p:spPr>
          <a:xfrm>
            <a:off x="5461000" y="5410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2AE6F"/>
                </a:solidFill>
                <a:latin typeface="Consolas" panose="020B0609020204030204" pitchFamily="49" charset="0"/>
              </a:rPr>
              <a:t>06</a:t>
            </a:r>
            <a:endParaRPr lang="zh-CN" altLang="en-US" sz="1200" b="1">
              <a:solidFill>
                <a:srgbClr val="12AE6F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4857D60-3948-0368-7E60-01A925BFEA86}"/>
              </a:ext>
            </a:extLst>
          </p:cNvPr>
          <p:cNvSpPr txBox="1"/>
          <p:nvPr/>
        </p:nvSpPr>
        <p:spPr>
          <a:xfrm>
            <a:off x="5918200" y="539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Arial" panose="020B0604020202020204" pitchFamily="34" charset="0"/>
              </a:rPr>
              <a:t>Monitor</a:t>
            </a:r>
            <a:endParaRPr lang="zh-CN" altLang="en-US" sz="13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CEFD45D-6F12-7523-E2ED-45FB19A9BFBC}"/>
              </a:ext>
            </a:extLst>
          </p:cNvPr>
          <p:cNvSpPr txBox="1"/>
          <p:nvPr/>
        </p:nvSpPr>
        <p:spPr>
          <a:xfrm>
            <a:off x="5918200" y="5727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Arial" panose="020B0604020202020204" pitchFamily="34" charset="0"/>
              </a:rPr>
              <a:t>release decision</a:t>
            </a:r>
            <a:endParaRPr lang="zh-CN" altLang="en-US" sz="9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BEE8F5E-6641-43AF-DA5C-CEF2551CE929}"/>
              </a:ext>
            </a:extLst>
          </p:cNvPr>
          <p:cNvSpPr/>
          <p:nvPr/>
        </p:nvSpPr>
        <p:spPr>
          <a:xfrm>
            <a:off x="9982200" y="2159000"/>
            <a:ext cx="1600200" cy="34798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A11C25-95B6-7393-8357-10736FD4A074}"/>
              </a:ext>
            </a:extLst>
          </p:cNvPr>
          <p:cNvSpPr txBox="1"/>
          <p:nvPr/>
        </p:nvSpPr>
        <p:spPr>
          <a:xfrm>
            <a:off x="10287000" y="2489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Arial" panose="020B0604020202020204" pitchFamily="34" charset="0"/>
              </a:rPr>
              <a:t>RUNTIME</a:t>
            </a:r>
            <a:endParaRPr lang="zh-CN" altLang="en-US" sz="9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79BD3CF-5D2D-8399-6C7B-3A31509653C6}"/>
              </a:ext>
            </a:extLst>
          </p:cNvPr>
          <p:cNvSpPr txBox="1"/>
          <p:nvPr/>
        </p:nvSpPr>
        <p:spPr>
          <a:xfrm>
            <a:off x="10287000" y="2870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613FDF1-9E99-5BC7-A9AC-D4C09E959D1F}"/>
              </a:ext>
            </a:extLst>
          </p:cNvPr>
          <p:cNvSpPr txBox="1"/>
          <p:nvPr/>
        </p:nvSpPr>
        <p:spPr>
          <a:xfrm>
            <a:off x="10287000" y="3556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PARALLEL ROOTS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BF017E6-112F-7F5B-11F6-F5D46E8D38DC}"/>
              </a:ext>
            </a:extLst>
          </p:cNvPr>
          <p:cNvCxnSpPr/>
          <p:nvPr/>
        </p:nvCxnSpPr>
        <p:spPr>
          <a:xfrm>
            <a:off x="10287000" y="4064000"/>
            <a:ext cx="9906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416254E-E79D-6D00-4CFC-07237995D665}"/>
              </a:ext>
            </a:extLst>
          </p:cNvPr>
          <p:cNvSpPr txBox="1"/>
          <p:nvPr/>
        </p:nvSpPr>
        <p:spPr>
          <a:xfrm>
            <a:off x="10287000" y="4267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10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4BD8D22-1794-35E5-C696-EDD56FA763A6}"/>
              </a:ext>
            </a:extLst>
          </p:cNvPr>
          <p:cNvSpPr txBox="1"/>
          <p:nvPr/>
        </p:nvSpPr>
        <p:spPr>
          <a:xfrm>
            <a:off x="10287000" y="4953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DEPENDENCY EDGES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9DAB596-518B-CCCB-6402-6C31F564742E}"/>
              </a:ext>
            </a:extLst>
          </p:cNvPr>
          <p:cNvSpPr txBox="1"/>
          <p:nvPr/>
        </p:nvSpPr>
        <p:spPr>
          <a:xfrm>
            <a:off x="10287000" y="538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FFFFFF"/>
                </a:solidFill>
                <a:latin typeface="Arial" panose="020B0604020202020204" pitchFamily="34" charset="0"/>
              </a:rPr>
              <a:t>4-stage critical path</a:t>
            </a:r>
            <a:endParaRPr lang="zh-CN" altLang="en-US" sz="9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0BF0DE9-5BDE-A9A5-D084-E141A40AFD4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58B6866-6863-15E5-3810-37342AA1F844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Arial" panose="020B0604020202020204" pitchFamily="34" charset="0"/>
              </a:rPr>
              <a:t>BEETRUST / LOCAL E2E / 18 SEP 2026</a:t>
            </a:r>
            <a:endParaRPr lang="zh-CN" altLang="en-US" sz="8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B9F7B7B-0FBC-4895-1F0D-F0AF4D00923D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03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12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A4BD763-309B-8279-FB6D-4F7586AE2F83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A473B9A-EFF7-9164-0D1D-93009F012100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FA9ADD1-C535-69A9-FD4B-6601E2742A8D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71CD892-F38F-D7EE-1852-A9E779FD394E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50CD630-1247-F27A-070B-E4A14387D7BC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0ADC07D-20F7-952E-39A4-E71FB4A60DEF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2A8774-059A-2E79-6A46-D9B5B81280D6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F130B0A-2455-1F3E-5CFB-9A9079CF5EEC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93364E1-0613-B4F0-6841-7EBA0D19E62C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AE325C-017F-C75C-709A-2923C8595CBC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7B98C6-16D7-4F7D-47F9-BCE478997EA8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170A029-FB5A-333C-73CA-9135754F0940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0B26DE6-96F8-85F9-FB6C-B810357C2067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9FB6E58-4B9F-C3C9-2D56-BD704E7127C0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AF3B5C3-526E-8566-3785-B3BB8DE1C869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0DCAD2A-C74A-AD84-B6E7-18CD6EA6E5DE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48343B9-1CD3-30C5-1D5E-AAF6D6C4D3B4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54A0076-2BD9-1F2C-711C-95C7F8FBB41F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FB0817D-9A49-C792-8E4F-6B3613C53C00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0D9038B-A78D-E627-2409-C1F2DB75C658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A8EF9A0-DE3A-84D5-2947-38B0B80532AC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3554269-88A3-B2C1-26E7-6923A03A8FC4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35EA765-E4CB-D43E-B9D0-811C6A620DEF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CFA5BFE-DFBD-CA5C-26C4-3D24F8D1F8F9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Arial" panose="020B0604020202020204" pitchFamily="34" charset="0"/>
              </a:rPr>
              <a:t>03 / RUNTIME PROOF</a:t>
            </a:r>
            <a:endParaRPr lang="zh-CN" altLang="en-US" sz="9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96A5C4-13C5-DE69-6FA7-94D1B929C7AD}"/>
              </a:ext>
            </a:extLst>
          </p:cNvPr>
          <p:cNvSpPr txBox="1"/>
          <p:nvPr/>
        </p:nvSpPr>
        <p:spPr>
          <a:xfrm>
            <a:off x="609600" y="685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FFFFF"/>
                </a:solidFill>
                <a:latin typeface="Arial" panose="020B0604020202020204" pitchFamily="34" charset="0"/>
              </a:rPr>
              <a:t>The proof is visible at runtime</a:t>
            </a:r>
            <a:endParaRPr lang="zh-CN" altLang="en-US" sz="29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E4E5F4-EA89-696F-CC18-00DBF633DCCE}"/>
              </a:ext>
            </a:extLst>
          </p:cNvPr>
          <p:cNvSpPr txBox="1"/>
          <p:nvPr/>
        </p:nvSpPr>
        <p:spPr>
          <a:xfrm>
            <a:off x="609600" y="1346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748FBE"/>
                </a:solidFill>
                <a:latin typeface="Arial" panose="020B0604020202020204" pitchFamily="34" charset="0"/>
              </a:rPr>
              <a:t>Decision, orchestration and evidence appear together in the local dashboard.</a:t>
            </a:r>
            <a:endParaRPr lang="zh-CN" altLang="en-US" sz="12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C51AA54-609B-E344-9CFA-CC0D8E4B22B0}"/>
              </a:ext>
            </a:extLst>
          </p:cNvPr>
          <p:cNvSpPr txBox="1"/>
          <p:nvPr/>
        </p:nvSpPr>
        <p:spPr>
          <a:xfrm>
            <a:off x="609600" y="2260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>
                <a:solidFill>
                  <a:srgbClr val="BFFF00"/>
                </a:solidFill>
                <a:latin typeface="Arial" panose="020B0604020202020204" pitchFamily="34" charset="0"/>
              </a:rPr>
              <a:t>RELEASE</a:t>
            </a:r>
            <a:endParaRPr lang="zh-CN" altLang="en-US" sz="3100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55CAFF-041B-193D-6DE7-D33F7A7891FD}"/>
              </a:ext>
            </a:extLst>
          </p:cNvPr>
          <p:cNvSpPr txBox="1"/>
          <p:nvPr/>
        </p:nvSpPr>
        <p:spPr>
          <a:xfrm>
            <a:off x="609600" y="2895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>
                <a:solidFill>
                  <a:srgbClr val="FFFFFF"/>
                </a:solidFill>
                <a:latin typeface="Consolas" panose="020B0609020204030204" pitchFamily="49" charset="0"/>
              </a:rPr>
              <a:t>100 / 100</a:t>
            </a:r>
            <a:endParaRPr lang="zh-CN" altLang="en-US" sz="3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EEFE21-8C1C-5003-2A67-5DE58E09B203}"/>
              </a:ext>
            </a:extLst>
          </p:cNvPr>
          <p:cNvSpPr txBox="1"/>
          <p:nvPr/>
        </p:nvSpPr>
        <p:spPr>
          <a:xfrm>
            <a:off x="609600" y="373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FFFFF"/>
                </a:solidFill>
                <a:latin typeface="Arial" panose="020B0604020202020204" pitchFamily="34" charset="0"/>
              </a:rPr>
              <a:t>5 gates PASS</a:t>
            </a:r>
            <a:endParaRPr lang="zh-CN" altLang="en-US" sz="17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0559796-C8C9-32A1-CE0C-5664DD99CEF5}"/>
              </a:ext>
            </a:extLst>
          </p:cNvPr>
          <p:cNvCxnSpPr/>
          <p:nvPr/>
        </p:nvCxnSpPr>
        <p:spPr>
          <a:xfrm>
            <a:off x="609600" y="4318000"/>
            <a:ext cx="3454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92AB9AA-FF08-1EE5-7754-6D82F0A1B2B1}"/>
              </a:ext>
            </a:extLst>
          </p:cNvPr>
          <p:cNvSpPr txBox="1"/>
          <p:nvPr/>
        </p:nvSpPr>
        <p:spPr>
          <a:xfrm>
            <a:off x="609600" y="4597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300">
                <a:solidFill>
                  <a:srgbClr val="748FBE"/>
                </a:solidFill>
                <a:latin typeface="Arial" panose="020B0604020202020204" pitchFamily="34" charset="0"/>
              </a:rPr>
              <a:t>All decision evidence is visible in one runtime view.</a:t>
            </a:r>
            <a:endParaRPr lang="zh-CN" altLang="en-US" sz="13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C4FECAC-CADF-FE21-7F7B-7A90AB4D1D36}"/>
              </a:ext>
            </a:extLst>
          </p:cNvPr>
          <p:cNvSpPr txBox="1"/>
          <p:nvPr/>
        </p:nvSpPr>
        <p:spPr>
          <a:xfrm>
            <a:off x="609600" y="5562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48FBE"/>
                </a:solidFill>
                <a:latin typeface="Arial" panose="020B0604020202020204" pitchFamily="34" charset="0"/>
              </a:rPr>
              <a:t>Screenshot: npm run demo</a:t>
            </a:r>
            <a:endParaRPr lang="zh-CN" altLang="en-US" sz="9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6C4D4C-B0A4-E0DA-EA0A-15308169DFC2}"/>
              </a:ext>
            </a:extLst>
          </p:cNvPr>
          <p:cNvSpPr/>
          <p:nvPr/>
        </p:nvSpPr>
        <p:spPr>
          <a:xfrm>
            <a:off x="5130800" y="1879600"/>
            <a:ext cx="6451600" cy="474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Local BeeTrust dashboard showing the release decision and evidence matrix">
            <a:extLst>
              <a:ext uri="{FF2B5EF4-FFF2-40B4-BE49-F238E27FC236}">
                <a16:creationId xmlns:a16="http://schemas.microsoft.com/office/drawing/2014/main" id="{3C6DE452-722A-FFDB-4801-22B898B3C4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81200"/>
            <a:ext cx="6045200" cy="45339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8846C289-1F07-FC22-DBA6-C442AD85C75D}"/>
              </a:ext>
            </a:extLst>
          </p:cNvPr>
          <p:cNvSpPr txBox="1"/>
          <p:nvPr/>
        </p:nvSpPr>
        <p:spPr>
          <a:xfrm>
            <a:off x="11049000" y="6070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04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14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990E2B0-2FDB-5574-19A6-946FB47A1956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B9F7DC1-D52C-D03C-EC8E-8186CF7D7B96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D0B0315-C03B-1F71-4A66-2DE44A4C2A45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EE8D63B-D16C-A7EA-F0DA-E6D785784A93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CF1FE91-CC7E-4EF3-41D2-6936A5D5C7C5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3BCFB9-6547-EF0A-1B3B-A434A2FCC737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924EEC-16D1-772F-B89D-5929E5BD3CE7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403BDC8-3ABC-2CE7-E934-164046E3B361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813CE7B-694C-3AF5-F300-E5CA0241203A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82BDDB5-C191-33EF-C702-B9E8429CBA7D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763ED42-14A0-F491-8E1A-73DB2EFCD006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309C7-DDCF-AC90-3ED3-78B571B3A00A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7003D8B-9C58-981E-6FB2-0C8FC73BA113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255DAC-4C9D-9967-3D6E-9EE1D27EA1CD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BC96531-D784-E0AA-7D5E-B8A2A1662E66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ACCAEC-B2C6-4E54-99FE-84D4C5092ECB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BCE165C-76F2-F7AD-3B10-5BF723466CB5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9F68BE-8222-F146-E560-86ED0A824648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D371E57-AE24-12F1-C1E2-21CCCDF87B49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0326918-44F0-1156-D946-165DD3C1C9FD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56483B6-FB0F-9AFC-06D0-5114562D760E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3A15271-57AB-2A51-E443-DEEB5E1EED84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AEBEACD-2001-7448-0119-CFE59A552606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4240366-09A1-4D60-CC5A-022A388C2F77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Arial" panose="020B0604020202020204" pitchFamily="34" charset="0"/>
              </a:rPr>
              <a:t>04 / ASSURANCE</a:t>
            </a:r>
            <a:endParaRPr lang="zh-CN" altLang="en-US" sz="900" b="1">
              <a:solidFill>
                <a:srgbClr val="417E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56B73C-85E8-302D-DEF2-A80F1E49EE0E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2900">
                <a:solidFill>
                  <a:srgbClr val="F4F8FF"/>
                </a:solidFill>
                <a:latin typeface="Arial" panose="020B0604020202020204" pitchFamily="34" charset="0"/>
              </a:rPr>
              <a:t>Fail closed is part of the product</a:t>
            </a:r>
            <a:endParaRPr lang="zh-CN" altLang="en-US" sz="2900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5C4C88-60EF-4BE2-90AD-AA327132E587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200">
                <a:solidFill>
                  <a:srgbClr val="A6B9D8"/>
                </a:solidFill>
                <a:latin typeface="Arial" panose="020B0604020202020204" pitchFamily="34" charset="0"/>
              </a:rPr>
              <a:t>The adversarial stage injects faults after the operational outputs are assembled</a:t>
            </a:r>
            <a:endParaRPr lang="zh-CN" altLang="en-US" sz="12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4FD135-3E07-33CA-634E-DCF033DA6EC7}"/>
              </a:ext>
            </a:extLst>
          </p:cNvPr>
          <p:cNvSpPr/>
          <p:nvPr/>
        </p:nvSpPr>
        <p:spPr>
          <a:xfrm>
            <a:off x="609600" y="2082800"/>
            <a:ext cx="3048000" cy="4140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Local dashboard showing adversarial simulation and runtime SkillMessage timeline">
            <a:extLst>
              <a:ext uri="{FF2B5EF4-FFF2-40B4-BE49-F238E27FC236}">
                <a16:creationId xmlns:a16="http://schemas.microsoft.com/office/drawing/2014/main" id="{017D7978-3C79-386D-AA24-7BE3934E72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35200"/>
            <a:ext cx="2794000" cy="3835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047B823-064A-D924-B3F8-32ED94EF2802}"/>
              </a:ext>
            </a:extLst>
          </p:cNvPr>
          <p:cNvSpPr txBox="1"/>
          <p:nvPr/>
        </p:nvSpPr>
        <p:spPr>
          <a:xfrm>
            <a:off x="44196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700">
                <a:solidFill>
                  <a:srgbClr val="FF4A60"/>
                </a:solidFill>
                <a:latin typeface="Consolas" panose="020B0609020204030204" pitchFamily="49" charset="0"/>
              </a:rPr>
              <a:t>6 / 6</a:t>
            </a:r>
            <a:endParaRPr lang="zh-CN" altLang="en-US" sz="4700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B9C8A2D-F979-78BB-73F1-404CFBA727E7}"/>
              </a:ext>
            </a:extLst>
          </p:cNvPr>
          <p:cNvSpPr txBox="1"/>
          <p:nvPr/>
        </p:nvSpPr>
        <p:spPr>
          <a:xfrm>
            <a:off x="4445000" y="2870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faults blocked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19387BD-80C9-FAEE-A84D-D1BFB6DD95CF}"/>
              </a:ext>
            </a:extLst>
          </p:cNvPr>
          <p:cNvCxnSpPr/>
          <p:nvPr/>
        </p:nvCxnSpPr>
        <p:spPr>
          <a:xfrm>
            <a:off x="4419600" y="34290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3DAEB70-ECF9-C1C1-7718-A0E10D459033}"/>
              </a:ext>
            </a:extLst>
          </p:cNvPr>
          <p:cNvSpPr txBox="1"/>
          <p:nvPr/>
        </p:nvSpPr>
        <p:spPr>
          <a:xfrm>
            <a:off x="4419600" y="3543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Fingerprint mismatch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230672D-7557-6341-58E1-0C363AC3A888}"/>
              </a:ext>
            </a:extLst>
          </p:cNvPr>
          <p:cNvSpPr txBox="1"/>
          <p:nvPr/>
        </p:nvSpPr>
        <p:spPr>
          <a:xfrm>
            <a:off x="10490200" y="35433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C9DBE6-8870-895E-CEC2-50F39CA4261C}"/>
              </a:ext>
            </a:extLst>
          </p:cNvPr>
          <p:cNvCxnSpPr/>
          <p:nvPr/>
        </p:nvCxnSpPr>
        <p:spPr>
          <a:xfrm>
            <a:off x="4419600" y="38227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53845E4-14C9-410D-B5A0-44B79C443D44}"/>
              </a:ext>
            </a:extLst>
          </p:cNvPr>
          <p:cNvSpPr txBox="1"/>
          <p:nvPr/>
        </p:nvSpPr>
        <p:spPr>
          <a:xfrm>
            <a:off x="4419600" y="3937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Batch ID tamper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2DC07F1-8F5D-A5B7-3F01-7E2D84FB99C4}"/>
              </a:ext>
            </a:extLst>
          </p:cNvPr>
          <p:cNvSpPr txBox="1"/>
          <p:nvPr/>
        </p:nvSpPr>
        <p:spPr>
          <a:xfrm>
            <a:off x="10490200" y="3937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8063B39-5F6F-0CE0-B437-4BEFB0F4FA6F}"/>
              </a:ext>
            </a:extLst>
          </p:cNvPr>
          <p:cNvCxnSpPr/>
          <p:nvPr/>
        </p:nvCxnSpPr>
        <p:spPr>
          <a:xfrm>
            <a:off x="4419600" y="42164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0D4FF388-8DCB-C349-B210-4091D9B35E1D}"/>
              </a:ext>
            </a:extLst>
          </p:cNvPr>
          <p:cNvSpPr txBox="1"/>
          <p:nvPr/>
        </p:nvSpPr>
        <p:spPr>
          <a:xfrm>
            <a:off x="4419600" y="4330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Missing document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3A4D5D0-DFAB-4036-B4D2-21B3F10ABFDE}"/>
              </a:ext>
            </a:extLst>
          </p:cNvPr>
          <p:cNvSpPr txBox="1"/>
          <p:nvPr/>
        </p:nvSpPr>
        <p:spPr>
          <a:xfrm>
            <a:off x="10490200" y="43307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FEFD109-15BF-E824-674A-A08BE5C48CB4}"/>
              </a:ext>
            </a:extLst>
          </p:cNvPr>
          <p:cNvCxnSpPr/>
          <p:nvPr/>
        </p:nvCxnSpPr>
        <p:spPr>
          <a:xfrm>
            <a:off x="4419600" y="46101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5983F-6CB4-54D9-9907-1DD93E15A9BA}"/>
              </a:ext>
            </a:extLst>
          </p:cNvPr>
          <p:cNvSpPr txBox="1"/>
          <p:nvPr/>
        </p:nvSpPr>
        <p:spPr>
          <a:xfrm>
            <a:off x="4419600" y="4724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Quantity mismatch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5FF30D4-4493-7DCB-4191-7A3875D47282}"/>
              </a:ext>
            </a:extLst>
          </p:cNvPr>
          <p:cNvSpPr txBox="1"/>
          <p:nvPr/>
        </p:nvSpPr>
        <p:spPr>
          <a:xfrm>
            <a:off x="10490200" y="47244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0D0871F-E6D8-B11C-17AD-90F1EA701CA3}"/>
              </a:ext>
            </a:extLst>
          </p:cNvPr>
          <p:cNvCxnSpPr/>
          <p:nvPr/>
        </p:nvCxnSpPr>
        <p:spPr>
          <a:xfrm>
            <a:off x="4419600" y="50038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EC382028-3B50-7FE8-7363-10860A12BB1F}"/>
              </a:ext>
            </a:extLst>
          </p:cNvPr>
          <p:cNvSpPr txBox="1"/>
          <p:nvPr/>
        </p:nvSpPr>
        <p:spPr>
          <a:xfrm>
            <a:off x="4419600" y="511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Destination change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AEE5D3D-8AB1-F05A-6DFF-9FFBAAA855EA}"/>
              </a:ext>
            </a:extLst>
          </p:cNvPr>
          <p:cNvSpPr txBox="1"/>
          <p:nvPr/>
        </p:nvSpPr>
        <p:spPr>
          <a:xfrm>
            <a:off x="10490200" y="51181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BC022AF-B6AA-918D-3220-8BFBEA3D9C13}"/>
              </a:ext>
            </a:extLst>
          </p:cNvPr>
          <p:cNvCxnSpPr/>
          <p:nvPr/>
        </p:nvCxnSpPr>
        <p:spPr>
          <a:xfrm>
            <a:off x="4419600" y="53975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498AF16-DAF8-0674-E370-122574BD8B5C}"/>
              </a:ext>
            </a:extLst>
          </p:cNvPr>
          <p:cNvSpPr txBox="1"/>
          <p:nvPr/>
        </p:nvSpPr>
        <p:spPr>
          <a:xfrm>
            <a:off x="4419600" y="5511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F4F8FF"/>
                </a:solidFill>
                <a:latin typeface="Arial" panose="020B0604020202020204" pitchFamily="34" charset="0"/>
              </a:rPr>
              <a:t>Rule-version conflict</a:t>
            </a:r>
            <a:endParaRPr lang="zh-CN" altLang="en-US" sz="1100" b="1">
              <a:solidFill>
                <a:srgbClr val="F4F8FF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4A7EFB8-2CA8-4B36-1EC9-162979D58D23}"/>
              </a:ext>
            </a:extLst>
          </p:cNvPr>
          <p:cNvSpPr txBox="1"/>
          <p:nvPr/>
        </p:nvSpPr>
        <p:spPr>
          <a:xfrm>
            <a:off x="10490200" y="5511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FF4A60"/>
                </a:solidFill>
                <a:latin typeface="Consolas" panose="020B0609020204030204" pitchFamily="49" charset="0"/>
              </a:rPr>
              <a:t>BLOCKED</a:t>
            </a:r>
            <a:endParaRPr lang="zh-CN" altLang="en-US" sz="1000" b="1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B4CDE3B-3A49-5B9A-445E-85011BDA2787}"/>
              </a:ext>
            </a:extLst>
          </p:cNvPr>
          <p:cNvSpPr txBox="1"/>
          <p:nvPr/>
        </p:nvSpPr>
        <p:spPr>
          <a:xfrm>
            <a:off x="4419600" y="5943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12 runtime events / SkillMessage/v1</a:t>
            </a:r>
            <a:endParaRPr lang="zh-CN" altLang="en-US" sz="900">
              <a:solidFill>
                <a:srgbClr val="A6B9D8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F04535A-E435-D572-09CC-2247B261E9E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0DFFB2DC-9CFF-5DFD-0E2F-AF3332F9B87E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altLang="zh-CN" sz="800">
                <a:solidFill>
                  <a:srgbClr val="A6B9D8"/>
                </a:solidFill>
                <a:latin typeface="Arial" panose="020B0604020202020204" pitchFamily="34" charset="0"/>
              </a:rPr>
              <a:t>BEETRUST / LOCAL E2E / 18 SEP 2026</a:t>
            </a:r>
            <a:endParaRPr lang="zh-CN" altLang="en-US" sz="800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8886192-F634-A51D-0718-CF3DC83131AE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05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2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E112B55-F394-4111-5982-C4ECDD6F53E0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3B83309-4820-5DA8-1D69-D4F2F03030FF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952BA24-5BF4-26BB-D632-615432D1B4D1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7A5E2C9-E130-ACAA-4560-0E3EAD0754CC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E421C69-91E1-5831-FA32-B2FA5A904460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4A601E3-D6EE-E91E-27AF-428D15B1F730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9DA5C9-4B7C-E97E-8A16-A1FC75455EA0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83E94EB-DF7E-0566-2060-EA509B06DE64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ADA1FB9-EA28-AB55-F213-4E1AC7E0DEFE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9FB3FC3-71D7-2871-8D32-9F0CDAF52F7B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57284B9-9334-A09D-C456-04B66E0D0DA2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6FD3245-EFDB-B6FF-A10E-A202574A8466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B5940B7-E869-1DAD-A86F-30F41C7BD203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541A87D-E459-98CD-C1E7-45D75670A740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7D10654-B148-217D-4BDC-80B722442EE7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29D3F17-049B-4A90-68C0-B2A37C181EE9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F530CF3-38AD-B0D7-2C83-FAD95377E90B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A6387BD-A342-727A-1A8A-1B220D12B591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4DA0E84-8D7E-0293-E1AA-84C43E1927A5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FA50ACC-1E78-E024-B1DC-DAB366B6AF7B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5518FA3-1E99-EBAD-7F74-FF9B626B5B3C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278C65F-66E4-B7B3-3A9A-DEFC2128CF70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A860D07-B398-CDC5-8600-3B52DADA8B72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FBA25D3-282E-214F-5ECA-10B84E2891F3}"/>
              </a:ext>
            </a:extLst>
          </p:cNvPr>
          <p:cNvSpPr txBox="1"/>
          <p:nvPr/>
        </p:nvSpPr>
        <p:spPr>
          <a:xfrm>
            <a:off x="609600" y="431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Arial" panose="020B0604020202020204" pitchFamily="34" charset="0"/>
              </a:rPr>
              <a:t>05 / HANDOFF</a:t>
            </a:r>
            <a:endParaRPr lang="zh-CN" altLang="en-US" sz="9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3B0E07A-3263-D562-426A-135EAB2EA060}"/>
              </a:ext>
            </a:extLst>
          </p:cNvPr>
          <p:cNvSpPr txBox="1"/>
          <p:nvPr/>
        </p:nvSpPr>
        <p:spPr>
          <a:xfrm>
            <a:off x="609600" y="787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200">
                <a:solidFill>
                  <a:srgbClr val="FFFFFF"/>
                </a:solidFill>
                <a:latin typeface="Arial" panose="020B0604020202020204" pitchFamily="34" charset="0"/>
              </a:rPr>
              <a:t>Judge-ready on one laptop</a:t>
            </a:r>
            <a:endParaRPr lang="zh-CN" altLang="en-US" sz="3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308DAA-C4EF-29C7-11FE-9764B1B30CDA}"/>
              </a:ext>
            </a:extLst>
          </p:cNvPr>
          <p:cNvSpPr txBox="1"/>
          <p:nvPr/>
        </p:nvSpPr>
        <p:spPr>
          <a:xfrm>
            <a:off x="6096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300">
                <a:solidFill>
                  <a:srgbClr val="748FBE"/>
                </a:solidFill>
                <a:latin typeface="Arial" panose="020B0604020202020204" pitchFamily="34" charset="0"/>
              </a:rPr>
              <a:t>The local package is testable, repeatable and ready to demonstrate.</a:t>
            </a:r>
            <a:endParaRPr lang="zh-CN" altLang="en-US" sz="13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9D34110-5A78-A1EC-CA4C-4D7B6C416414}"/>
              </a:ext>
            </a:extLst>
          </p:cNvPr>
          <p:cNvSpPr txBox="1"/>
          <p:nvPr/>
        </p:nvSpPr>
        <p:spPr>
          <a:xfrm>
            <a:off x="609600" y="2489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192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A41FF2-A243-705A-C71E-D85C4674357A}"/>
              </a:ext>
            </a:extLst>
          </p:cNvPr>
          <p:cNvSpPr txBox="1"/>
          <p:nvPr/>
        </p:nvSpPr>
        <p:spPr>
          <a:xfrm>
            <a:off x="609600" y="3175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SELF-TESTS PASSED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BBE421-0252-FD63-3374-867950F1467F}"/>
              </a:ext>
            </a:extLst>
          </p:cNvPr>
          <p:cNvSpPr txBox="1"/>
          <p:nvPr/>
        </p:nvSpPr>
        <p:spPr>
          <a:xfrm>
            <a:off x="3276600" y="2489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7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E53383D-BE75-5915-7A33-CB7E35C611C6}"/>
              </a:ext>
            </a:extLst>
          </p:cNvPr>
          <p:cNvSpPr txBox="1"/>
          <p:nvPr/>
        </p:nvSpPr>
        <p:spPr>
          <a:xfrm>
            <a:off x="3276600" y="317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SKILLS REGISTERED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D51D73-E664-4F75-E9C7-5F2725BA1517}"/>
              </a:ext>
            </a:extLst>
          </p:cNvPr>
          <p:cNvSpPr txBox="1"/>
          <p:nvPr/>
        </p:nvSpPr>
        <p:spPr>
          <a:xfrm>
            <a:off x="5816600" y="2489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7C1C"/>
                </a:solidFill>
                <a:latin typeface="Consolas" panose="020B0609020204030204" pitchFamily="49" charset="0"/>
              </a:rPr>
              <a:t>6</a:t>
            </a:r>
            <a:endParaRPr lang="zh-CN" altLang="en-US" sz="3400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A70F8A-BE20-55B0-300D-7F9C235DF836}"/>
              </a:ext>
            </a:extLst>
          </p:cNvPr>
          <p:cNvSpPr txBox="1"/>
          <p:nvPr/>
        </p:nvSpPr>
        <p:spPr>
          <a:xfrm>
            <a:off x="58166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Arial" panose="020B0604020202020204" pitchFamily="34" charset="0"/>
              </a:rPr>
              <a:t>RED-TEAM BLOCKS</a:t>
            </a:r>
            <a:endParaRPr lang="zh-CN" altLang="en-US" sz="900" b="1">
              <a:solidFill>
                <a:srgbClr val="A6B9D8"/>
              </a:solidFill>
              <a:latin typeface="Arial" panose="020B0604020202020204" pitchFamily="34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9098CFE-5F6E-95BF-869F-640793F10316}"/>
              </a:ext>
            </a:extLst>
          </p:cNvPr>
          <p:cNvCxnSpPr/>
          <p:nvPr/>
        </p:nvCxnSpPr>
        <p:spPr>
          <a:xfrm>
            <a:off x="609600" y="3987800"/>
            <a:ext cx="7137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5626DDA-C9A2-454E-F1D7-EBD78DD5232C}"/>
              </a:ext>
            </a:extLst>
          </p:cNvPr>
          <p:cNvSpPr txBox="1"/>
          <p:nvPr/>
        </p:nvSpPr>
        <p:spPr>
          <a:xfrm>
            <a:off x="609600" y="426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Arial" panose="020B0604020202020204" pitchFamily="34" charset="0"/>
              </a:rPr>
              <a:t>RUN</a:t>
            </a:r>
            <a:endParaRPr lang="zh-CN" altLang="en-US" sz="9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2759A9E-4F8F-548B-DC98-A78D00E5D893}"/>
              </a:ext>
            </a:extLst>
          </p:cNvPr>
          <p:cNvSpPr txBox="1"/>
          <p:nvPr/>
        </p:nvSpPr>
        <p:spPr>
          <a:xfrm>
            <a:off x="609600" y="4597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A633366-9892-6024-2DFE-2881B634BD37}"/>
              </a:ext>
            </a:extLst>
          </p:cNvPr>
          <p:cNvSpPr txBox="1"/>
          <p:nvPr/>
        </p:nvSpPr>
        <p:spPr>
          <a:xfrm>
            <a:off x="3810000" y="4597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demo:live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B78E7C8-989D-7D7E-7731-46A1A2DF56F0}"/>
              </a:ext>
            </a:extLst>
          </p:cNvPr>
          <p:cNvSpPr txBox="1"/>
          <p:nvPr/>
        </p:nvSpPr>
        <p:spPr>
          <a:xfrm>
            <a:off x="609600" y="5080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acceptance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3E96155-EEF1-D5C4-14D2-40AB2FC0B810}"/>
              </a:ext>
            </a:extLst>
          </p:cNvPr>
          <p:cNvSpPr txBox="1"/>
          <p:nvPr/>
        </p:nvSpPr>
        <p:spPr>
          <a:xfrm>
            <a:off x="4699000" y="5080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test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29C35E-A592-C655-178A-D604B7D4A55B}"/>
              </a:ext>
            </a:extLst>
          </p:cNvPr>
          <p:cNvSpPr/>
          <p:nvPr/>
        </p:nvSpPr>
        <p:spPr>
          <a:xfrm>
            <a:off x="8432800" y="2184400"/>
            <a:ext cx="3149600" cy="32512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CC462D4-668F-2E53-0508-22BB8BDCE648}"/>
              </a:ext>
            </a:extLst>
          </p:cNvPr>
          <p:cNvSpPr txBox="1"/>
          <p:nvPr/>
        </p:nvSpPr>
        <p:spPr>
          <a:xfrm>
            <a:off x="8763000" y="2514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Arial" panose="020B0604020202020204" pitchFamily="34" charset="0"/>
              </a:rPr>
              <a:t>VERIFIED</a:t>
            </a:r>
            <a:endParaRPr lang="zh-CN" altLang="en-US" sz="1000" b="1">
              <a:solidFill>
                <a:srgbClr val="BFFF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1F4810-1FDE-2C33-5715-37E6D26F2654}"/>
              </a:ext>
            </a:extLst>
          </p:cNvPr>
          <p:cNvSpPr txBox="1"/>
          <p:nvPr/>
        </p:nvSpPr>
        <p:spPr>
          <a:xfrm>
            <a:off x="8763000" y="2946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600">
                <a:solidFill>
                  <a:srgbClr val="FFFFFF"/>
                </a:solidFill>
                <a:latin typeface="Arial" panose="020B0604020202020204" pitchFamily="34" charset="0"/>
              </a:rPr>
              <a:t>Local package</a:t>
            </a:r>
          </a:p>
          <a:p>
            <a:r>
              <a:rPr lang="en-NZ" altLang="zh-CN" sz="1600">
                <a:solidFill>
                  <a:srgbClr val="FFFFFF"/>
                </a:solidFill>
                <a:latin typeface="Arial" panose="020B0604020202020204" pitchFamily="34" charset="0"/>
              </a:rPr>
              <a:t>Main pipeline</a:t>
            </a:r>
          </a:p>
          <a:p>
            <a:r>
              <a:rPr lang="en-NZ" altLang="zh-CN" sz="1600">
                <a:solidFill>
                  <a:srgbClr val="FFFFFF"/>
                </a:solidFill>
                <a:latin typeface="Arial" panose="020B0604020202020204" pitchFamily="34" charset="0"/>
              </a:rPr>
              <a:t>Red-team gates</a:t>
            </a:r>
          </a:p>
          <a:p>
            <a:r>
              <a:rPr lang="en-NZ" altLang="zh-CN" sz="1600">
                <a:solidFill>
                  <a:srgbClr val="FFFFFF"/>
                </a:solidFill>
                <a:latin typeface="Arial" panose="020B0604020202020204" pitchFamily="34" charset="0"/>
              </a:rPr>
              <a:t>Runtime dashboard</a:t>
            </a:r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2A165A7-56EE-8862-0BCF-2C9CF25848AD}"/>
              </a:ext>
            </a:extLst>
          </p:cNvPr>
          <p:cNvCxnSpPr/>
          <p:nvPr/>
        </p:nvCxnSpPr>
        <p:spPr>
          <a:xfrm>
            <a:off x="8763000" y="4419600"/>
            <a:ext cx="2438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197BC96-D698-BA5D-D50A-BC288BD2ACD4}"/>
              </a:ext>
            </a:extLst>
          </p:cNvPr>
          <p:cNvSpPr txBox="1"/>
          <p:nvPr/>
        </p:nvSpPr>
        <p:spPr>
          <a:xfrm>
            <a:off x="8763000" y="4699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OUT OF SCOPE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0D72F3-978F-82EC-4141-99C3E3673FC8}"/>
              </a:ext>
            </a:extLst>
          </p:cNvPr>
          <p:cNvSpPr txBox="1"/>
          <p:nvPr/>
        </p:nvSpPr>
        <p:spPr>
          <a:xfrm>
            <a:off x="87630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NZ" altLang="zh-CN" sz="1100">
                <a:solidFill>
                  <a:srgbClr val="FFFFFF"/>
                </a:solidFill>
                <a:latin typeface="Arial" panose="020B0604020202020204" pitchFamily="34" charset="0"/>
              </a:rPr>
              <a:t>WorkHub / Wesome publication</a:t>
            </a:r>
          </a:p>
          <a:p>
            <a:r>
              <a:rPr lang="en-NZ" altLang="zh-CN" sz="1100">
                <a:solidFill>
                  <a:srgbClr val="FFFFFF"/>
                </a:solidFill>
                <a:latin typeface="Arial" panose="020B0604020202020204" pitchFamily="34" charset="0"/>
              </a:rPr>
              <a:t>Real shipment execution</a:t>
            </a:r>
            <a:endParaRPr lang="zh-CN" altLang="en-US" sz="11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DD9A5F4-E9FD-4EEB-7D5E-822A3A3AB946}"/>
              </a:ext>
            </a:extLst>
          </p:cNvPr>
          <p:cNvSpPr txBox="1"/>
          <p:nvPr/>
        </p:nvSpPr>
        <p:spPr>
          <a:xfrm>
            <a:off x="609600" y="6045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748FBE"/>
                </a:solidFill>
                <a:latin typeface="Arial" panose="020B0604020202020204" pitchFamily="34" charset="0"/>
              </a:rPr>
              <a:t>Local demo evidence only / no external submission performed</a:t>
            </a:r>
            <a:endParaRPr lang="zh-CN" altLang="en-US" sz="900">
              <a:solidFill>
                <a:srgbClr val="748FBE"/>
              </a:solidFill>
              <a:latin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80BDABC-8233-7478-679C-1CFFF423C6B9}"/>
              </a:ext>
            </a:extLst>
          </p:cNvPr>
          <p:cNvSpPr txBox="1"/>
          <p:nvPr/>
        </p:nvSpPr>
        <p:spPr>
          <a:xfrm>
            <a:off x="11049000" y="6045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06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88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自定义</PresentationFormat>
  <Paragraphs>114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Weilai Wang</dc:creator>
  <cp:lastModifiedBy>Weilai Wang</cp:lastModifiedBy>
  <cp:revision>1</cp:revision>
  <dcterms:created xsi:type="dcterms:W3CDTF">2026-09-18T06:28:51Z</dcterms:created>
  <dcterms:modified xsi:type="dcterms:W3CDTF">2026-09-18T06:28:51Z</dcterms:modified>
</cp:coreProperties>
</file>